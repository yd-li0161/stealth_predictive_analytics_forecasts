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9" r:id="rId4"/>
    <p:sldId id="258" r:id="rId5"/>
    <p:sldId id="290" r:id="rId6"/>
    <p:sldId id="263" r:id="rId7"/>
    <p:sldId id="259" r:id="rId8"/>
    <p:sldId id="262" r:id="rId9"/>
    <p:sldId id="291" r:id="rId10"/>
    <p:sldId id="272" r:id="rId11"/>
    <p:sldId id="273" r:id="rId12"/>
    <p:sldId id="315" r:id="rId13"/>
    <p:sldId id="274" r:id="rId14"/>
    <p:sldId id="292" r:id="rId15"/>
    <p:sldId id="275" r:id="rId16"/>
    <p:sldId id="276" r:id="rId17"/>
    <p:sldId id="277" r:id="rId18"/>
    <p:sldId id="278" r:id="rId19"/>
    <p:sldId id="314" r:id="rId20"/>
    <p:sldId id="279" r:id="rId21"/>
    <p:sldId id="316" r:id="rId22"/>
    <p:sldId id="280" r:id="rId23"/>
    <p:sldId id="281" r:id="rId24"/>
    <p:sldId id="293" r:id="rId25"/>
    <p:sldId id="284" r:id="rId26"/>
    <p:sldId id="285" r:id="rId27"/>
    <p:sldId id="286" r:id="rId28"/>
    <p:sldId id="287" r:id="rId29"/>
    <p:sldId id="317" r:id="rId30"/>
    <p:sldId id="288" r:id="rId31"/>
    <p:sldId id="297" r:id="rId32"/>
    <p:sldId id="298" r:id="rId33"/>
    <p:sldId id="294" r:id="rId34"/>
    <p:sldId id="301" r:id="rId35"/>
    <p:sldId id="302" r:id="rId36"/>
    <p:sldId id="303" r:id="rId37"/>
    <p:sldId id="304" r:id="rId38"/>
    <p:sldId id="305" r:id="rId39"/>
    <p:sldId id="306" r:id="rId40"/>
    <p:sldId id="295" r:id="rId41"/>
    <p:sldId id="307" r:id="rId42"/>
    <p:sldId id="308" r:id="rId43"/>
    <p:sldId id="296" r:id="rId44"/>
    <p:sldId id="310" r:id="rId45"/>
    <p:sldId id="311" r:id="rId46"/>
    <p:sldId id="313" r:id="rId47"/>
    <p:sldId id="309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9C17AD-7CBB-4784-AF8E-A374B3CA66F6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5EDBA764-4587-4997-9C4E-CD0C141FE3C3}">
      <dgm:prSet phldrT="[Text]" phldr="0"/>
      <dgm:spPr/>
      <dgm:t>
        <a:bodyPr/>
        <a:lstStyle/>
        <a:p>
          <a:r>
            <a:rPr lang="en-US" altLang="zh-CN" dirty="0"/>
            <a:t>Data</a:t>
          </a:r>
          <a:endParaRPr lang="zh-CN" altLang="en-US" dirty="0"/>
        </a:p>
      </dgm:t>
    </dgm:pt>
    <dgm:pt modelId="{B9963CF8-AE42-4E77-9775-ABCF6EC1115A}" type="parTrans" cxnId="{EBF53FDC-733E-4755-B594-790D6347CF7F}">
      <dgm:prSet/>
      <dgm:spPr/>
      <dgm:t>
        <a:bodyPr/>
        <a:lstStyle/>
        <a:p>
          <a:endParaRPr lang="zh-CN" altLang="en-US"/>
        </a:p>
      </dgm:t>
    </dgm:pt>
    <dgm:pt modelId="{9C88123E-5A84-4900-B83B-F66B47993791}" type="sibTrans" cxnId="{EBF53FDC-733E-4755-B594-790D6347CF7F}">
      <dgm:prSet/>
      <dgm:spPr/>
      <dgm:t>
        <a:bodyPr/>
        <a:lstStyle/>
        <a:p>
          <a:endParaRPr lang="zh-CN" altLang="en-US"/>
        </a:p>
      </dgm:t>
    </dgm:pt>
    <dgm:pt modelId="{5D6FE517-FE35-4673-AFBA-B470C071FDC7}">
      <dgm:prSet phldrT="[Text]" phldr="0"/>
      <dgm:spPr/>
      <dgm:t>
        <a:bodyPr/>
        <a:lstStyle/>
        <a:p>
          <a:r>
            <a:rPr lang="en-US" altLang="zh-CN" dirty="0"/>
            <a:t>Features</a:t>
          </a:r>
          <a:endParaRPr lang="zh-CN" altLang="en-US" dirty="0"/>
        </a:p>
      </dgm:t>
    </dgm:pt>
    <dgm:pt modelId="{8823B1AE-9594-4936-8693-753235989757}" type="parTrans" cxnId="{0869E0B6-4C10-4D93-99F4-B52F25B75258}">
      <dgm:prSet/>
      <dgm:spPr/>
      <dgm:t>
        <a:bodyPr/>
        <a:lstStyle/>
        <a:p>
          <a:endParaRPr lang="zh-CN" altLang="en-US"/>
        </a:p>
      </dgm:t>
    </dgm:pt>
    <dgm:pt modelId="{E3CDBEC8-7D22-4514-92A9-6A6F250DE391}" type="sibTrans" cxnId="{0869E0B6-4C10-4D93-99F4-B52F25B75258}">
      <dgm:prSet/>
      <dgm:spPr/>
      <dgm:t>
        <a:bodyPr/>
        <a:lstStyle/>
        <a:p>
          <a:endParaRPr lang="zh-CN" altLang="en-US"/>
        </a:p>
      </dgm:t>
    </dgm:pt>
    <dgm:pt modelId="{A47072A1-4F30-4601-B01D-770A6F2C479D}">
      <dgm:prSet phldrT="[Text]" phldr="0"/>
      <dgm:spPr/>
      <dgm:t>
        <a:bodyPr/>
        <a:lstStyle/>
        <a:p>
          <a:r>
            <a:rPr lang="en-US" altLang="zh-CN" dirty="0"/>
            <a:t>Models</a:t>
          </a:r>
          <a:endParaRPr lang="zh-CN" altLang="en-US" dirty="0"/>
        </a:p>
      </dgm:t>
    </dgm:pt>
    <dgm:pt modelId="{1CAFC05B-A150-4426-9A94-45466E62E71E}" type="parTrans" cxnId="{8BEEBD15-85B3-4E88-BD71-5D5F95A09553}">
      <dgm:prSet/>
      <dgm:spPr/>
      <dgm:t>
        <a:bodyPr/>
        <a:lstStyle/>
        <a:p>
          <a:endParaRPr lang="zh-CN" altLang="en-US"/>
        </a:p>
      </dgm:t>
    </dgm:pt>
    <dgm:pt modelId="{39CB9CF6-3589-4AF2-AA6D-C446B208DAA5}" type="sibTrans" cxnId="{8BEEBD15-85B3-4E88-BD71-5D5F95A09553}">
      <dgm:prSet/>
      <dgm:spPr/>
      <dgm:t>
        <a:bodyPr/>
        <a:lstStyle/>
        <a:p>
          <a:endParaRPr lang="zh-CN" altLang="en-US"/>
        </a:p>
      </dgm:t>
    </dgm:pt>
    <dgm:pt modelId="{22752D28-7364-47C2-8348-8A426CF96780}">
      <dgm:prSet phldrT="[Text]" phldr="0"/>
      <dgm:spPr/>
      <dgm:t>
        <a:bodyPr/>
        <a:lstStyle/>
        <a:p>
          <a:r>
            <a:rPr lang="en-US" altLang="zh-CN"/>
            <a:t>Forecasts</a:t>
          </a:r>
          <a:endParaRPr lang="zh-CN" altLang="en-US" dirty="0"/>
        </a:p>
      </dgm:t>
    </dgm:pt>
    <dgm:pt modelId="{032F16AA-6FAD-492F-A55E-90968549DB05}" type="parTrans" cxnId="{57C5E5C4-D2A2-486F-82B7-6E4D3C5C315D}">
      <dgm:prSet/>
      <dgm:spPr/>
      <dgm:t>
        <a:bodyPr/>
        <a:lstStyle/>
        <a:p>
          <a:endParaRPr lang="zh-CN" altLang="en-US"/>
        </a:p>
      </dgm:t>
    </dgm:pt>
    <dgm:pt modelId="{D93890CA-9E08-41F3-84B5-E1A9EC5030FF}" type="sibTrans" cxnId="{57C5E5C4-D2A2-486F-82B7-6E4D3C5C315D}">
      <dgm:prSet/>
      <dgm:spPr/>
      <dgm:t>
        <a:bodyPr/>
        <a:lstStyle/>
        <a:p>
          <a:endParaRPr lang="zh-CN" altLang="en-US"/>
        </a:p>
      </dgm:t>
    </dgm:pt>
    <dgm:pt modelId="{A0E351D3-D35B-4C3B-97D6-437187A3B355}">
      <dgm:prSet phldrT="[Text]" phldr="0"/>
      <dgm:spPr/>
      <dgm:t>
        <a:bodyPr/>
        <a:lstStyle/>
        <a:p>
          <a:r>
            <a:rPr lang="en-US" altLang="zh-CN" dirty="0"/>
            <a:t>Evaluation</a:t>
          </a:r>
          <a:endParaRPr lang="zh-CN" altLang="en-US" dirty="0"/>
        </a:p>
      </dgm:t>
    </dgm:pt>
    <dgm:pt modelId="{0682FFA9-2A26-4DC0-B6F8-F7B14095EFD4}" type="parTrans" cxnId="{3C93D787-FCC6-4964-8909-A8AE528D4829}">
      <dgm:prSet/>
      <dgm:spPr/>
      <dgm:t>
        <a:bodyPr/>
        <a:lstStyle/>
        <a:p>
          <a:endParaRPr lang="zh-CN" altLang="en-US"/>
        </a:p>
      </dgm:t>
    </dgm:pt>
    <dgm:pt modelId="{760E9812-9F86-46BF-B9A6-E15C6E6A68DD}" type="sibTrans" cxnId="{3C93D787-FCC6-4964-8909-A8AE528D4829}">
      <dgm:prSet/>
      <dgm:spPr/>
      <dgm:t>
        <a:bodyPr/>
        <a:lstStyle/>
        <a:p>
          <a:endParaRPr lang="zh-CN" altLang="en-US"/>
        </a:p>
      </dgm:t>
    </dgm:pt>
    <dgm:pt modelId="{E4E5F4A1-2BD6-477C-9945-88C8ED974637}" type="pres">
      <dgm:prSet presAssocID="{B79C17AD-7CBB-4784-AF8E-A374B3CA66F6}" presName="rootnode" presStyleCnt="0">
        <dgm:presLayoutVars>
          <dgm:chMax/>
          <dgm:chPref/>
          <dgm:dir/>
          <dgm:animLvl val="lvl"/>
        </dgm:presLayoutVars>
      </dgm:prSet>
      <dgm:spPr/>
    </dgm:pt>
    <dgm:pt modelId="{A4CD36A6-3B3A-48F3-9324-CB451E368A79}" type="pres">
      <dgm:prSet presAssocID="{5EDBA764-4587-4997-9C4E-CD0C141FE3C3}" presName="composite" presStyleCnt="0"/>
      <dgm:spPr/>
    </dgm:pt>
    <dgm:pt modelId="{6E773CF0-79AA-4065-9F45-3AB4435A5B5C}" type="pres">
      <dgm:prSet presAssocID="{5EDBA764-4587-4997-9C4E-CD0C141FE3C3}" presName="bentUpArrow1" presStyleLbl="alignImgPlace1" presStyleIdx="0" presStyleCnt="4"/>
      <dgm:spPr/>
    </dgm:pt>
    <dgm:pt modelId="{32AAB8F7-5D01-4931-B502-4FA10C95D885}" type="pres">
      <dgm:prSet presAssocID="{5EDBA764-4587-4997-9C4E-CD0C141FE3C3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13735235-692E-4CB1-95AE-3F3B8E9AB217}" type="pres">
      <dgm:prSet presAssocID="{5EDBA764-4587-4997-9C4E-CD0C141FE3C3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F1B5AA4F-F662-45C7-A2D8-AE2C0C56CFEC}" type="pres">
      <dgm:prSet presAssocID="{9C88123E-5A84-4900-B83B-F66B47993791}" presName="sibTrans" presStyleCnt="0"/>
      <dgm:spPr/>
    </dgm:pt>
    <dgm:pt modelId="{836A159E-71CF-44B5-A49B-5D095F49E247}" type="pres">
      <dgm:prSet presAssocID="{5D6FE517-FE35-4673-AFBA-B470C071FDC7}" presName="composite" presStyleCnt="0"/>
      <dgm:spPr/>
    </dgm:pt>
    <dgm:pt modelId="{F326AD94-F6E1-4279-BF7E-D8E942711B2B}" type="pres">
      <dgm:prSet presAssocID="{5D6FE517-FE35-4673-AFBA-B470C071FDC7}" presName="bentUpArrow1" presStyleLbl="alignImgPlace1" presStyleIdx="1" presStyleCnt="4"/>
      <dgm:spPr/>
    </dgm:pt>
    <dgm:pt modelId="{63AB8785-7241-4482-B908-E7AC58F5CCC4}" type="pres">
      <dgm:prSet presAssocID="{5D6FE517-FE35-4673-AFBA-B470C071FDC7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B605FDAF-5AE1-4254-9577-1B9300D7630B}" type="pres">
      <dgm:prSet presAssocID="{5D6FE517-FE35-4673-AFBA-B470C071FDC7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438E9D1-42BE-4354-B7A4-D99DDCE518A6}" type="pres">
      <dgm:prSet presAssocID="{E3CDBEC8-7D22-4514-92A9-6A6F250DE391}" presName="sibTrans" presStyleCnt="0"/>
      <dgm:spPr/>
    </dgm:pt>
    <dgm:pt modelId="{5E5CCBE8-41A1-4A72-8321-EEDA1E05E096}" type="pres">
      <dgm:prSet presAssocID="{A47072A1-4F30-4601-B01D-770A6F2C479D}" presName="composite" presStyleCnt="0"/>
      <dgm:spPr/>
    </dgm:pt>
    <dgm:pt modelId="{A12F19A9-8372-4095-BC32-D1228CA446B6}" type="pres">
      <dgm:prSet presAssocID="{A47072A1-4F30-4601-B01D-770A6F2C479D}" presName="bentUpArrow1" presStyleLbl="alignImgPlace1" presStyleIdx="2" presStyleCnt="4"/>
      <dgm:spPr/>
    </dgm:pt>
    <dgm:pt modelId="{FE074ABF-748C-44D4-A548-27542FF89C75}" type="pres">
      <dgm:prSet presAssocID="{A47072A1-4F30-4601-B01D-770A6F2C479D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F6950984-7862-4CC5-9126-CEA89B31F127}" type="pres">
      <dgm:prSet presAssocID="{A47072A1-4F30-4601-B01D-770A6F2C479D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1AD681E2-283A-4D60-AD1E-AF33D1EA6C3E}" type="pres">
      <dgm:prSet presAssocID="{39CB9CF6-3589-4AF2-AA6D-C446B208DAA5}" presName="sibTrans" presStyleCnt="0"/>
      <dgm:spPr/>
    </dgm:pt>
    <dgm:pt modelId="{8D520285-23F4-437E-A14B-0CF0FCE6FC6E}" type="pres">
      <dgm:prSet presAssocID="{22752D28-7364-47C2-8348-8A426CF96780}" presName="composite" presStyleCnt="0"/>
      <dgm:spPr/>
    </dgm:pt>
    <dgm:pt modelId="{460E1270-C537-440D-B747-6997C91026F6}" type="pres">
      <dgm:prSet presAssocID="{22752D28-7364-47C2-8348-8A426CF96780}" presName="bentUpArrow1" presStyleLbl="alignImgPlace1" presStyleIdx="3" presStyleCnt="4"/>
      <dgm:spPr/>
    </dgm:pt>
    <dgm:pt modelId="{6E22EA0F-699E-458F-B90C-41E5532D4992}" type="pres">
      <dgm:prSet presAssocID="{22752D28-7364-47C2-8348-8A426CF96780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939DC264-720F-48AD-8277-BA0C5FF35AB0}" type="pres">
      <dgm:prSet presAssocID="{22752D28-7364-47C2-8348-8A426CF96780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B9B57F17-FF42-405A-8432-7F89B23345E1}" type="pres">
      <dgm:prSet presAssocID="{D93890CA-9E08-41F3-84B5-E1A9EC5030FF}" presName="sibTrans" presStyleCnt="0"/>
      <dgm:spPr/>
    </dgm:pt>
    <dgm:pt modelId="{74100F12-2FD2-468B-A8E9-D415B179B456}" type="pres">
      <dgm:prSet presAssocID="{A0E351D3-D35B-4C3B-97D6-437187A3B355}" presName="composite" presStyleCnt="0"/>
      <dgm:spPr/>
    </dgm:pt>
    <dgm:pt modelId="{9BC4A5C7-472D-48F6-83F3-6BA024D3E321}" type="pres">
      <dgm:prSet presAssocID="{A0E351D3-D35B-4C3B-97D6-437187A3B355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8BEEBD15-85B3-4E88-BD71-5D5F95A09553}" srcId="{B79C17AD-7CBB-4784-AF8E-A374B3CA66F6}" destId="{A47072A1-4F30-4601-B01D-770A6F2C479D}" srcOrd="2" destOrd="0" parTransId="{1CAFC05B-A150-4426-9A94-45466E62E71E}" sibTransId="{39CB9CF6-3589-4AF2-AA6D-C446B208DAA5}"/>
    <dgm:cxn modelId="{0250D139-C357-4783-AC32-FF609B9A9B48}" type="presOf" srcId="{A47072A1-4F30-4601-B01D-770A6F2C479D}" destId="{FE074ABF-748C-44D4-A548-27542FF89C75}" srcOrd="0" destOrd="0" presId="urn:microsoft.com/office/officeart/2005/8/layout/StepDownProcess"/>
    <dgm:cxn modelId="{9DB34358-2549-4E7E-B1F7-F8C45618C9DE}" type="presOf" srcId="{A0E351D3-D35B-4C3B-97D6-437187A3B355}" destId="{9BC4A5C7-472D-48F6-83F3-6BA024D3E321}" srcOrd="0" destOrd="0" presId="urn:microsoft.com/office/officeart/2005/8/layout/StepDownProcess"/>
    <dgm:cxn modelId="{3C93D787-FCC6-4964-8909-A8AE528D4829}" srcId="{B79C17AD-7CBB-4784-AF8E-A374B3CA66F6}" destId="{A0E351D3-D35B-4C3B-97D6-437187A3B355}" srcOrd="4" destOrd="0" parTransId="{0682FFA9-2A26-4DC0-B6F8-F7B14095EFD4}" sibTransId="{760E9812-9F86-46BF-B9A6-E15C6E6A68DD}"/>
    <dgm:cxn modelId="{D552F58F-973F-4A82-8E35-F0C637A5508F}" type="presOf" srcId="{5EDBA764-4587-4997-9C4E-CD0C141FE3C3}" destId="{32AAB8F7-5D01-4931-B502-4FA10C95D885}" srcOrd="0" destOrd="0" presId="urn:microsoft.com/office/officeart/2005/8/layout/StepDownProcess"/>
    <dgm:cxn modelId="{A2E433B6-CF66-4C47-8BF4-846E32EE20B7}" type="presOf" srcId="{22752D28-7364-47C2-8348-8A426CF96780}" destId="{6E22EA0F-699E-458F-B90C-41E5532D4992}" srcOrd="0" destOrd="0" presId="urn:microsoft.com/office/officeart/2005/8/layout/StepDownProcess"/>
    <dgm:cxn modelId="{0869E0B6-4C10-4D93-99F4-B52F25B75258}" srcId="{B79C17AD-7CBB-4784-AF8E-A374B3CA66F6}" destId="{5D6FE517-FE35-4673-AFBA-B470C071FDC7}" srcOrd="1" destOrd="0" parTransId="{8823B1AE-9594-4936-8693-753235989757}" sibTransId="{E3CDBEC8-7D22-4514-92A9-6A6F250DE391}"/>
    <dgm:cxn modelId="{3E0763B9-6934-49E2-86E2-F8BB18F8144D}" type="presOf" srcId="{5D6FE517-FE35-4673-AFBA-B470C071FDC7}" destId="{63AB8785-7241-4482-B908-E7AC58F5CCC4}" srcOrd="0" destOrd="0" presId="urn:microsoft.com/office/officeart/2005/8/layout/StepDownProcess"/>
    <dgm:cxn modelId="{57C5E5C4-D2A2-486F-82B7-6E4D3C5C315D}" srcId="{B79C17AD-7CBB-4784-AF8E-A374B3CA66F6}" destId="{22752D28-7364-47C2-8348-8A426CF96780}" srcOrd="3" destOrd="0" parTransId="{032F16AA-6FAD-492F-A55E-90968549DB05}" sibTransId="{D93890CA-9E08-41F3-84B5-E1A9EC5030FF}"/>
    <dgm:cxn modelId="{53A463D5-49EE-4989-ADCC-3E6198F54E05}" type="presOf" srcId="{B79C17AD-7CBB-4784-AF8E-A374B3CA66F6}" destId="{E4E5F4A1-2BD6-477C-9945-88C8ED974637}" srcOrd="0" destOrd="0" presId="urn:microsoft.com/office/officeart/2005/8/layout/StepDownProcess"/>
    <dgm:cxn modelId="{EBF53FDC-733E-4755-B594-790D6347CF7F}" srcId="{B79C17AD-7CBB-4784-AF8E-A374B3CA66F6}" destId="{5EDBA764-4587-4997-9C4E-CD0C141FE3C3}" srcOrd="0" destOrd="0" parTransId="{B9963CF8-AE42-4E77-9775-ABCF6EC1115A}" sibTransId="{9C88123E-5A84-4900-B83B-F66B47993791}"/>
    <dgm:cxn modelId="{D2E63D22-BFE9-428E-B5DD-365976F4397D}" type="presParOf" srcId="{E4E5F4A1-2BD6-477C-9945-88C8ED974637}" destId="{A4CD36A6-3B3A-48F3-9324-CB451E368A79}" srcOrd="0" destOrd="0" presId="urn:microsoft.com/office/officeart/2005/8/layout/StepDownProcess"/>
    <dgm:cxn modelId="{AE602007-76C6-4AFA-B529-1FF26BA0E036}" type="presParOf" srcId="{A4CD36A6-3B3A-48F3-9324-CB451E368A79}" destId="{6E773CF0-79AA-4065-9F45-3AB4435A5B5C}" srcOrd="0" destOrd="0" presId="urn:microsoft.com/office/officeart/2005/8/layout/StepDownProcess"/>
    <dgm:cxn modelId="{DDBD99B2-E3E6-4354-9C3A-169BEC7ECB73}" type="presParOf" srcId="{A4CD36A6-3B3A-48F3-9324-CB451E368A79}" destId="{32AAB8F7-5D01-4931-B502-4FA10C95D885}" srcOrd="1" destOrd="0" presId="urn:microsoft.com/office/officeart/2005/8/layout/StepDownProcess"/>
    <dgm:cxn modelId="{FE417499-A4B5-4082-8E0F-9AC7F9994FB8}" type="presParOf" srcId="{A4CD36A6-3B3A-48F3-9324-CB451E368A79}" destId="{13735235-692E-4CB1-95AE-3F3B8E9AB217}" srcOrd="2" destOrd="0" presId="urn:microsoft.com/office/officeart/2005/8/layout/StepDownProcess"/>
    <dgm:cxn modelId="{B746586C-3FB8-4803-B9D3-0F565422C325}" type="presParOf" srcId="{E4E5F4A1-2BD6-477C-9945-88C8ED974637}" destId="{F1B5AA4F-F662-45C7-A2D8-AE2C0C56CFEC}" srcOrd="1" destOrd="0" presId="urn:microsoft.com/office/officeart/2005/8/layout/StepDownProcess"/>
    <dgm:cxn modelId="{E48D6D69-75CA-4246-AE86-B12216DA2E68}" type="presParOf" srcId="{E4E5F4A1-2BD6-477C-9945-88C8ED974637}" destId="{836A159E-71CF-44B5-A49B-5D095F49E247}" srcOrd="2" destOrd="0" presId="urn:microsoft.com/office/officeart/2005/8/layout/StepDownProcess"/>
    <dgm:cxn modelId="{7F145849-E969-4C7E-9209-927FB1CEC63C}" type="presParOf" srcId="{836A159E-71CF-44B5-A49B-5D095F49E247}" destId="{F326AD94-F6E1-4279-BF7E-D8E942711B2B}" srcOrd="0" destOrd="0" presId="urn:microsoft.com/office/officeart/2005/8/layout/StepDownProcess"/>
    <dgm:cxn modelId="{B5E7E370-E81C-437F-AD75-1E2986415140}" type="presParOf" srcId="{836A159E-71CF-44B5-A49B-5D095F49E247}" destId="{63AB8785-7241-4482-B908-E7AC58F5CCC4}" srcOrd="1" destOrd="0" presId="urn:microsoft.com/office/officeart/2005/8/layout/StepDownProcess"/>
    <dgm:cxn modelId="{25CDB056-221D-4043-B6C7-C319C1618980}" type="presParOf" srcId="{836A159E-71CF-44B5-A49B-5D095F49E247}" destId="{B605FDAF-5AE1-4254-9577-1B9300D7630B}" srcOrd="2" destOrd="0" presId="urn:microsoft.com/office/officeart/2005/8/layout/StepDownProcess"/>
    <dgm:cxn modelId="{7B036327-269A-4667-B66E-80C76D90E849}" type="presParOf" srcId="{E4E5F4A1-2BD6-477C-9945-88C8ED974637}" destId="{B438E9D1-42BE-4354-B7A4-D99DDCE518A6}" srcOrd="3" destOrd="0" presId="urn:microsoft.com/office/officeart/2005/8/layout/StepDownProcess"/>
    <dgm:cxn modelId="{855AA8A5-5377-4094-B2D8-3F0498E9AA6C}" type="presParOf" srcId="{E4E5F4A1-2BD6-477C-9945-88C8ED974637}" destId="{5E5CCBE8-41A1-4A72-8321-EEDA1E05E096}" srcOrd="4" destOrd="0" presId="urn:microsoft.com/office/officeart/2005/8/layout/StepDownProcess"/>
    <dgm:cxn modelId="{EF661A3B-476D-4D9E-9A30-D703F87753CD}" type="presParOf" srcId="{5E5CCBE8-41A1-4A72-8321-EEDA1E05E096}" destId="{A12F19A9-8372-4095-BC32-D1228CA446B6}" srcOrd="0" destOrd="0" presId="urn:microsoft.com/office/officeart/2005/8/layout/StepDownProcess"/>
    <dgm:cxn modelId="{AAF79D1A-1713-454E-B64C-A731D75082FC}" type="presParOf" srcId="{5E5CCBE8-41A1-4A72-8321-EEDA1E05E096}" destId="{FE074ABF-748C-44D4-A548-27542FF89C75}" srcOrd="1" destOrd="0" presId="urn:microsoft.com/office/officeart/2005/8/layout/StepDownProcess"/>
    <dgm:cxn modelId="{138EE8B2-412E-446E-8075-C4AAE1B3F9B2}" type="presParOf" srcId="{5E5CCBE8-41A1-4A72-8321-EEDA1E05E096}" destId="{F6950984-7862-4CC5-9126-CEA89B31F127}" srcOrd="2" destOrd="0" presId="urn:microsoft.com/office/officeart/2005/8/layout/StepDownProcess"/>
    <dgm:cxn modelId="{58FB4C9D-07E9-4C42-BDF6-62B700FCCAC9}" type="presParOf" srcId="{E4E5F4A1-2BD6-477C-9945-88C8ED974637}" destId="{1AD681E2-283A-4D60-AD1E-AF33D1EA6C3E}" srcOrd="5" destOrd="0" presId="urn:microsoft.com/office/officeart/2005/8/layout/StepDownProcess"/>
    <dgm:cxn modelId="{FD16A12B-201A-49E1-A292-BF56767E3494}" type="presParOf" srcId="{E4E5F4A1-2BD6-477C-9945-88C8ED974637}" destId="{8D520285-23F4-437E-A14B-0CF0FCE6FC6E}" srcOrd="6" destOrd="0" presId="urn:microsoft.com/office/officeart/2005/8/layout/StepDownProcess"/>
    <dgm:cxn modelId="{C5CF586C-4B40-4966-8739-3905B23328E4}" type="presParOf" srcId="{8D520285-23F4-437E-A14B-0CF0FCE6FC6E}" destId="{460E1270-C537-440D-B747-6997C91026F6}" srcOrd="0" destOrd="0" presId="urn:microsoft.com/office/officeart/2005/8/layout/StepDownProcess"/>
    <dgm:cxn modelId="{5426F0D2-BA7E-4839-9AE1-49919AA2CF2D}" type="presParOf" srcId="{8D520285-23F4-437E-A14B-0CF0FCE6FC6E}" destId="{6E22EA0F-699E-458F-B90C-41E5532D4992}" srcOrd="1" destOrd="0" presId="urn:microsoft.com/office/officeart/2005/8/layout/StepDownProcess"/>
    <dgm:cxn modelId="{587EF9EA-18C1-418E-8C04-ED980D910BBF}" type="presParOf" srcId="{8D520285-23F4-437E-A14B-0CF0FCE6FC6E}" destId="{939DC264-720F-48AD-8277-BA0C5FF35AB0}" srcOrd="2" destOrd="0" presId="urn:microsoft.com/office/officeart/2005/8/layout/StepDownProcess"/>
    <dgm:cxn modelId="{F335CA87-A2F5-413F-A1C8-24223922C2E5}" type="presParOf" srcId="{E4E5F4A1-2BD6-477C-9945-88C8ED974637}" destId="{B9B57F17-FF42-405A-8432-7F89B23345E1}" srcOrd="7" destOrd="0" presId="urn:microsoft.com/office/officeart/2005/8/layout/StepDownProcess"/>
    <dgm:cxn modelId="{10F23610-B41D-4917-BD79-183D772AF3E5}" type="presParOf" srcId="{E4E5F4A1-2BD6-477C-9945-88C8ED974637}" destId="{74100F12-2FD2-468B-A8E9-D415B179B456}" srcOrd="8" destOrd="0" presId="urn:microsoft.com/office/officeart/2005/8/layout/StepDownProcess"/>
    <dgm:cxn modelId="{75A93400-A769-4276-9EF5-C49099688568}" type="presParOf" srcId="{74100F12-2FD2-468B-A8E9-D415B179B456}" destId="{9BC4A5C7-472D-48F6-83F3-6BA024D3E321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F5F22A-AA61-4AF2-A1D1-A61E2EF67AD1}" type="doc">
      <dgm:prSet loTypeId="urn:microsoft.com/office/officeart/2005/8/layout/hProcess1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16A61012-1189-4345-8A56-B3CDC6DC824D}">
      <dgm:prSet phldrT="[Text]" phldr="0"/>
      <dgm:spPr/>
      <dgm:t>
        <a:bodyPr/>
        <a:lstStyle/>
        <a:p>
          <a:r>
            <a:rPr lang="en-US" altLang="zh-CN" dirty="0"/>
            <a:t>Price</a:t>
          </a:r>
          <a:endParaRPr lang="zh-CN" altLang="en-US" dirty="0"/>
        </a:p>
      </dgm:t>
    </dgm:pt>
    <dgm:pt modelId="{78D923B2-A731-41CA-B875-F372D7BBB27F}" type="parTrans" cxnId="{F5319110-3ADF-47D8-8ED5-01D515B0AC75}">
      <dgm:prSet/>
      <dgm:spPr/>
      <dgm:t>
        <a:bodyPr/>
        <a:lstStyle/>
        <a:p>
          <a:endParaRPr lang="zh-CN" altLang="en-US"/>
        </a:p>
      </dgm:t>
    </dgm:pt>
    <dgm:pt modelId="{700110D6-4B35-43F6-8E89-7F5A9F29730E}" type="sibTrans" cxnId="{F5319110-3ADF-47D8-8ED5-01D515B0AC75}">
      <dgm:prSet/>
      <dgm:spPr/>
      <dgm:t>
        <a:bodyPr/>
        <a:lstStyle/>
        <a:p>
          <a:endParaRPr lang="zh-CN" altLang="en-US"/>
        </a:p>
      </dgm:t>
    </dgm:pt>
    <dgm:pt modelId="{DD83408E-E776-4DE7-8F9A-59847E85C44E}">
      <dgm:prSet phldrT="[Text]" phldr="0"/>
      <dgm:spPr/>
      <dgm:t>
        <a:bodyPr/>
        <a:lstStyle/>
        <a:p>
          <a:r>
            <a:rPr lang="en-US" altLang="zh-CN" dirty="0"/>
            <a:t>Indicators</a:t>
          </a:r>
          <a:endParaRPr lang="zh-CN" altLang="en-US" dirty="0"/>
        </a:p>
      </dgm:t>
    </dgm:pt>
    <dgm:pt modelId="{028C5637-9D65-48E9-A00A-171DC695F145}" type="parTrans" cxnId="{55267DE3-E3E6-4300-8329-16AB7892D0B9}">
      <dgm:prSet/>
      <dgm:spPr/>
      <dgm:t>
        <a:bodyPr/>
        <a:lstStyle/>
        <a:p>
          <a:endParaRPr lang="zh-CN" altLang="en-US"/>
        </a:p>
      </dgm:t>
    </dgm:pt>
    <dgm:pt modelId="{EABAF5B2-74D5-4052-85FA-63D29716EC8A}" type="sibTrans" cxnId="{55267DE3-E3E6-4300-8329-16AB7892D0B9}">
      <dgm:prSet/>
      <dgm:spPr/>
      <dgm:t>
        <a:bodyPr/>
        <a:lstStyle/>
        <a:p>
          <a:endParaRPr lang="zh-CN" altLang="en-US"/>
        </a:p>
      </dgm:t>
    </dgm:pt>
    <dgm:pt modelId="{524B3C54-1CB8-426C-8857-E9E8E83A383C}">
      <dgm:prSet phldrT="[Text]" phldr="0"/>
      <dgm:spPr/>
      <dgm:t>
        <a:bodyPr/>
        <a:lstStyle/>
        <a:p>
          <a:r>
            <a:rPr lang="en-US" altLang="zh-CN" dirty="0"/>
            <a:t>Volatility</a:t>
          </a:r>
          <a:endParaRPr lang="zh-CN" altLang="en-US" dirty="0"/>
        </a:p>
      </dgm:t>
    </dgm:pt>
    <dgm:pt modelId="{5B20945F-CCDB-4F7F-A735-CC80DE161177}" type="parTrans" cxnId="{B0A19C82-E389-41FB-B306-9F5F3063158E}">
      <dgm:prSet/>
      <dgm:spPr/>
      <dgm:t>
        <a:bodyPr/>
        <a:lstStyle/>
        <a:p>
          <a:endParaRPr lang="zh-CN" altLang="en-US"/>
        </a:p>
      </dgm:t>
    </dgm:pt>
    <dgm:pt modelId="{957F1A33-9D64-4340-9CB9-B90515F73475}" type="sibTrans" cxnId="{B0A19C82-E389-41FB-B306-9F5F3063158E}">
      <dgm:prSet/>
      <dgm:spPr/>
      <dgm:t>
        <a:bodyPr/>
        <a:lstStyle/>
        <a:p>
          <a:endParaRPr lang="zh-CN" altLang="en-US"/>
        </a:p>
      </dgm:t>
    </dgm:pt>
    <dgm:pt modelId="{BB38A084-FB7B-4E2E-8CD4-6BF88CE88360}">
      <dgm:prSet phldrT="[Text]" phldr="0"/>
      <dgm:spPr/>
      <dgm:t>
        <a:bodyPr/>
        <a:lstStyle/>
        <a:p>
          <a:r>
            <a:rPr lang="en-US" altLang="zh-CN" dirty="0"/>
            <a:t>Macro</a:t>
          </a:r>
          <a:endParaRPr lang="zh-CN" altLang="en-US" dirty="0"/>
        </a:p>
      </dgm:t>
    </dgm:pt>
    <dgm:pt modelId="{956BC4CA-A5D1-4C17-9FA3-1A1A21A40D0A}" type="parTrans" cxnId="{1BD6F5A9-3CB9-4BB0-BCFA-3FFC937E786F}">
      <dgm:prSet/>
      <dgm:spPr/>
      <dgm:t>
        <a:bodyPr/>
        <a:lstStyle/>
        <a:p>
          <a:endParaRPr lang="zh-CN" altLang="en-US"/>
        </a:p>
      </dgm:t>
    </dgm:pt>
    <dgm:pt modelId="{C58DE255-5139-40D5-961F-BA221DD8C8B8}" type="sibTrans" cxnId="{1BD6F5A9-3CB9-4BB0-BCFA-3FFC937E786F}">
      <dgm:prSet/>
      <dgm:spPr/>
      <dgm:t>
        <a:bodyPr/>
        <a:lstStyle/>
        <a:p>
          <a:endParaRPr lang="zh-CN" altLang="en-US"/>
        </a:p>
      </dgm:t>
    </dgm:pt>
    <dgm:pt modelId="{5A90A0F5-312D-4E20-8280-526C288E0D41}">
      <dgm:prSet phldrT="[Text]" phldr="0"/>
      <dgm:spPr/>
      <dgm:t>
        <a:bodyPr/>
        <a:lstStyle/>
        <a:p>
          <a:r>
            <a:rPr lang="en-US" altLang="zh-CN" dirty="0"/>
            <a:t>Cross-Asset</a:t>
          </a:r>
          <a:endParaRPr lang="zh-CN" altLang="en-US" dirty="0"/>
        </a:p>
      </dgm:t>
    </dgm:pt>
    <dgm:pt modelId="{B8B31161-2E32-43B0-A4AA-234A3F514109}" type="parTrans" cxnId="{4F41D396-155B-49BA-841B-B7A4F4062279}">
      <dgm:prSet/>
      <dgm:spPr/>
      <dgm:t>
        <a:bodyPr/>
        <a:lstStyle/>
        <a:p>
          <a:endParaRPr lang="zh-CN" altLang="en-US"/>
        </a:p>
      </dgm:t>
    </dgm:pt>
    <dgm:pt modelId="{2FA32A54-4D4C-4DAE-AF87-455E25518CC2}" type="sibTrans" cxnId="{4F41D396-155B-49BA-841B-B7A4F4062279}">
      <dgm:prSet/>
      <dgm:spPr/>
      <dgm:t>
        <a:bodyPr/>
        <a:lstStyle/>
        <a:p>
          <a:endParaRPr lang="zh-CN" altLang="en-US"/>
        </a:p>
      </dgm:t>
    </dgm:pt>
    <dgm:pt modelId="{36989B63-45B5-431B-972D-BB1A8C9123F3}">
      <dgm:prSet phldrT="[Text]" phldr="0"/>
      <dgm:spPr/>
      <dgm:t>
        <a:bodyPr/>
        <a:lstStyle/>
        <a:p>
          <a:r>
            <a:rPr lang="en-US" altLang="zh-CN" dirty="0"/>
            <a:t>Final Feature Set</a:t>
          </a:r>
          <a:endParaRPr lang="zh-CN" altLang="en-US" dirty="0"/>
        </a:p>
      </dgm:t>
    </dgm:pt>
    <dgm:pt modelId="{D24CF2BA-68EC-4E11-BF70-99C6FD52D4B8}" type="parTrans" cxnId="{861096C9-6E62-4103-84D0-C054649DF6C6}">
      <dgm:prSet/>
      <dgm:spPr/>
      <dgm:t>
        <a:bodyPr/>
        <a:lstStyle/>
        <a:p>
          <a:endParaRPr lang="zh-CN" altLang="en-US"/>
        </a:p>
      </dgm:t>
    </dgm:pt>
    <dgm:pt modelId="{6C43A7FB-1D57-4304-815C-93772C091230}" type="sibTrans" cxnId="{861096C9-6E62-4103-84D0-C054649DF6C6}">
      <dgm:prSet/>
      <dgm:spPr/>
      <dgm:t>
        <a:bodyPr/>
        <a:lstStyle/>
        <a:p>
          <a:endParaRPr lang="zh-CN" altLang="en-US"/>
        </a:p>
      </dgm:t>
    </dgm:pt>
    <dgm:pt modelId="{1B9DF62A-3B8F-467A-9E49-CF40B2184DB3}">
      <dgm:prSet phldrT="[Text]" phldr="0"/>
      <dgm:spPr/>
      <dgm:t>
        <a:bodyPr/>
        <a:lstStyle/>
        <a:p>
          <a:r>
            <a:rPr lang="en-US" altLang="zh-CN" dirty="0"/>
            <a:t>Lags</a:t>
          </a:r>
          <a:endParaRPr lang="zh-CN" altLang="en-US" dirty="0"/>
        </a:p>
      </dgm:t>
    </dgm:pt>
    <dgm:pt modelId="{23FA8866-9046-4E3B-9894-FAEF91C50A5A}" type="parTrans" cxnId="{8A764AF7-63E2-448F-BB6F-3772EC7CEC70}">
      <dgm:prSet/>
      <dgm:spPr/>
      <dgm:t>
        <a:bodyPr/>
        <a:lstStyle/>
        <a:p>
          <a:endParaRPr lang="zh-CN" altLang="en-US"/>
        </a:p>
      </dgm:t>
    </dgm:pt>
    <dgm:pt modelId="{A0A472BE-B38F-4967-9258-D10E7218D832}" type="sibTrans" cxnId="{8A764AF7-63E2-448F-BB6F-3772EC7CEC70}">
      <dgm:prSet/>
      <dgm:spPr/>
      <dgm:t>
        <a:bodyPr/>
        <a:lstStyle/>
        <a:p>
          <a:endParaRPr lang="zh-CN" altLang="en-US"/>
        </a:p>
      </dgm:t>
    </dgm:pt>
    <dgm:pt modelId="{BF1B7D4C-CAD3-45BA-B64E-A62DF850EBD0}" type="pres">
      <dgm:prSet presAssocID="{6FF5F22A-AA61-4AF2-A1D1-A61E2EF67AD1}" presName="Name0" presStyleCnt="0">
        <dgm:presLayoutVars>
          <dgm:dir/>
          <dgm:resizeHandles val="exact"/>
        </dgm:presLayoutVars>
      </dgm:prSet>
      <dgm:spPr/>
    </dgm:pt>
    <dgm:pt modelId="{32EBF91D-440A-49C1-8D75-46D60BA50822}" type="pres">
      <dgm:prSet presAssocID="{6FF5F22A-AA61-4AF2-A1D1-A61E2EF67AD1}" presName="arrow" presStyleLbl="bgShp" presStyleIdx="0" presStyleCnt="1"/>
      <dgm:spPr/>
    </dgm:pt>
    <dgm:pt modelId="{E0140BAA-9B37-44CB-9698-D6A18EAA4F7D}" type="pres">
      <dgm:prSet presAssocID="{6FF5F22A-AA61-4AF2-A1D1-A61E2EF67AD1}" presName="points" presStyleCnt="0"/>
      <dgm:spPr/>
    </dgm:pt>
    <dgm:pt modelId="{490E5663-B550-47CD-917D-828810147AA9}" type="pres">
      <dgm:prSet presAssocID="{16A61012-1189-4345-8A56-B3CDC6DC824D}" presName="compositeA" presStyleCnt="0"/>
      <dgm:spPr/>
    </dgm:pt>
    <dgm:pt modelId="{40955B37-8B48-4EFB-987D-477544855E40}" type="pres">
      <dgm:prSet presAssocID="{16A61012-1189-4345-8A56-B3CDC6DC824D}" presName="textA" presStyleLbl="revTx" presStyleIdx="0" presStyleCnt="7">
        <dgm:presLayoutVars>
          <dgm:bulletEnabled val="1"/>
        </dgm:presLayoutVars>
      </dgm:prSet>
      <dgm:spPr/>
    </dgm:pt>
    <dgm:pt modelId="{882436B5-800E-405E-98FE-9C51C86EB96F}" type="pres">
      <dgm:prSet presAssocID="{16A61012-1189-4345-8A56-B3CDC6DC824D}" presName="circleA" presStyleLbl="node1" presStyleIdx="0" presStyleCnt="7"/>
      <dgm:spPr/>
    </dgm:pt>
    <dgm:pt modelId="{B020B5CA-09D6-49F7-92F5-432DCB6709DE}" type="pres">
      <dgm:prSet presAssocID="{16A61012-1189-4345-8A56-B3CDC6DC824D}" presName="spaceA" presStyleCnt="0"/>
      <dgm:spPr/>
    </dgm:pt>
    <dgm:pt modelId="{3AAB244D-C06F-4CCE-98DF-504219000993}" type="pres">
      <dgm:prSet presAssocID="{700110D6-4B35-43F6-8E89-7F5A9F29730E}" presName="space" presStyleCnt="0"/>
      <dgm:spPr/>
    </dgm:pt>
    <dgm:pt modelId="{276D45F1-217D-4010-9ADC-81AD3E8B5C85}" type="pres">
      <dgm:prSet presAssocID="{DD83408E-E776-4DE7-8F9A-59847E85C44E}" presName="compositeB" presStyleCnt="0"/>
      <dgm:spPr/>
    </dgm:pt>
    <dgm:pt modelId="{5C8444FB-5331-43C3-B492-053BF5B9F7E9}" type="pres">
      <dgm:prSet presAssocID="{DD83408E-E776-4DE7-8F9A-59847E85C44E}" presName="textB" presStyleLbl="revTx" presStyleIdx="1" presStyleCnt="7">
        <dgm:presLayoutVars>
          <dgm:bulletEnabled val="1"/>
        </dgm:presLayoutVars>
      </dgm:prSet>
      <dgm:spPr/>
    </dgm:pt>
    <dgm:pt modelId="{15C0A00E-D396-4D57-A53D-3B2209999144}" type="pres">
      <dgm:prSet presAssocID="{DD83408E-E776-4DE7-8F9A-59847E85C44E}" presName="circleB" presStyleLbl="node1" presStyleIdx="1" presStyleCnt="7"/>
      <dgm:spPr/>
    </dgm:pt>
    <dgm:pt modelId="{7FDC4373-2739-4D6F-B59A-800BCC19E5D4}" type="pres">
      <dgm:prSet presAssocID="{DD83408E-E776-4DE7-8F9A-59847E85C44E}" presName="spaceB" presStyleCnt="0"/>
      <dgm:spPr/>
    </dgm:pt>
    <dgm:pt modelId="{7891A0A0-E911-4463-8EA3-43D6D1318F79}" type="pres">
      <dgm:prSet presAssocID="{EABAF5B2-74D5-4052-85FA-63D29716EC8A}" presName="space" presStyleCnt="0"/>
      <dgm:spPr/>
    </dgm:pt>
    <dgm:pt modelId="{C7DAE862-908B-4948-82EC-DF024DFD97F7}" type="pres">
      <dgm:prSet presAssocID="{524B3C54-1CB8-426C-8857-E9E8E83A383C}" presName="compositeA" presStyleCnt="0"/>
      <dgm:spPr/>
    </dgm:pt>
    <dgm:pt modelId="{9C7E712D-2E8C-4523-A235-BBBA252E5794}" type="pres">
      <dgm:prSet presAssocID="{524B3C54-1CB8-426C-8857-E9E8E83A383C}" presName="textA" presStyleLbl="revTx" presStyleIdx="2" presStyleCnt="7">
        <dgm:presLayoutVars>
          <dgm:bulletEnabled val="1"/>
        </dgm:presLayoutVars>
      </dgm:prSet>
      <dgm:spPr/>
    </dgm:pt>
    <dgm:pt modelId="{B9F80B3E-8451-4F12-8A0C-E07341C7DB5E}" type="pres">
      <dgm:prSet presAssocID="{524B3C54-1CB8-426C-8857-E9E8E83A383C}" presName="circleA" presStyleLbl="node1" presStyleIdx="2" presStyleCnt="7"/>
      <dgm:spPr/>
    </dgm:pt>
    <dgm:pt modelId="{0706AC73-AAAD-416A-93FC-6630C37FB1A4}" type="pres">
      <dgm:prSet presAssocID="{524B3C54-1CB8-426C-8857-E9E8E83A383C}" presName="spaceA" presStyleCnt="0"/>
      <dgm:spPr/>
    </dgm:pt>
    <dgm:pt modelId="{F8A81B2E-1FAE-4A9C-AD26-7734D53A11E9}" type="pres">
      <dgm:prSet presAssocID="{957F1A33-9D64-4340-9CB9-B90515F73475}" presName="space" presStyleCnt="0"/>
      <dgm:spPr/>
    </dgm:pt>
    <dgm:pt modelId="{9FB6365B-7DC3-4A4D-A018-ECF26E856FEA}" type="pres">
      <dgm:prSet presAssocID="{1B9DF62A-3B8F-467A-9E49-CF40B2184DB3}" presName="compositeB" presStyleCnt="0"/>
      <dgm:spPr/>
    </dgm:pt>
    <dgm:pt modelId="{77A1FCE6-4AEA-455E-89E5-AB77BC4D6776}" type="pres">
      <dgm:prSet presAssocID="{1B9DF62A-3B8F-467A-9E49-CF40B2184DB3}" presName="textB" presStyleLbl="revTx" presStyleIdx="3" presStyleCnt="7">
        <dgm:presLayoutVars>
          <dgm:bulletEnabled val="1"/>
        </dgm:presLayoutVars>
      </dgm:prSet>
      <dgm:spPr/>
    </dgm:pt>
    <dgm:pt modelId="{C58FB4DE-F43A-453C-8117-A7870F3E6B7F}" type="pres">
      <dgm:prSet presAssocID="{1B9DF62A-3B8F-467A-9E49-CF40B2184DB3}" presName="circleB" presStyleLbl="node1" presStyleIdx="3" presStyleCnt="7"/>
      <dgm:spPr/>
    </dgm:pt>
    <dgm:pt modelId="{D62C5C09-DBD7-4C5D-854D-6B7B5C5D2F4A}" type="pres">
      <dgm:prSet presAssocID="{1B9DF62A-3B8F-467A-9E49-CF40B2184DB3}" presName="spaceB" presStyleCnt="0"/>
      <dgm:spPr/>
    </dgm:pt>
    <dgm:pt modelId="{056D7707-71F9-4294-B2FF-976ED8CD4BDF}" type="pres">
      <dgm:prSet presAssocID="{A0A472BE-B38F-4967-9258-D10E7218D832}" presName="space" presStyleCnt="0"/>
      <dgm:spPr/>
    </dgm:pt>
    <dgm:pt modelId="{3BE00037-2613-405A-9FE8-4EC05B4F83C6}" type="pres">
      <dgm:prSet presAssocID="{BB38A084-FB7B-4E2E-8CD4-6BF88CE88360}" presName="compositeA" presStyleCnt="0"/>
      <dgm:spPr/>
    </dgm:pt>
    <dgm:pt modelId="{04C64F2C-742B-480F-B650-869C53EDF0DD}" type="pres">
      <dgm:prSet presAssocID="{BB38A084-FB7B-4E2E-8CD4-6BF88CE88360}" presName="textA" presStyleLbl="revTx" presStyleIdx="4" presStyleCnt="7">
        <dgm:presLayoutVars>
          <dgm:bulletEnabled val="1"/>
        </dgm:presLayoutVars>
      </dgm:prSet>
      <dgm:spPr/>
    </dgm:pt>
    <dgm:pt modelId="{07DB3892-C582-4228-8D17-B3B37BEC29FF}" type="pres">
      <dgm:prSet presAssocID="{BB38A084-FB7B-4E2E-8CD4-6BF88CE88360}" presName="circleA" presStyleLbl="node1" presStyleIdx="4" presStyleCnt="7"/>
      <dgm:spPr/>
    </dgm:pt>
    <dgm:pt modelId="{2C1BD533-017A-4124-B96C-191427FA3FA4}" type="pres">
      <dgm:prSet presAssocID="{BB38A084-FB7B-4E2E-8CD4-6BF88CE88360}" presName="spaceA" presStyleCnt="0"/>
      <dgm:spPr/>
    </dgm:pt>
    <dgm:pt modelId="{1FD950B5-23C1-47F7-A920-758C4B179FFC}" type="pres">
      <dgm:prSet presAssocID="{C58DE255-5139-40D5-961F-BA221DD8C8B8}" presName="space" presStyleCnt="0"/>
      <dgm:spPr/>
    </dgm:pt>
    <dgm:pt modelId="{EF110AF8-C238-4B49-BF67-E09EA1313651}" type="pres">
      <dgm:prSet presAssocID="{5A90A0F5-312D-4E20-8280-526C288E0D41}" presName="compositeB" presStyleCnt="0"/>
      <dgm:spPr/>
    </dgm:pt>
    <dgm:pt modelId="{EE4B9F34-B3A7-4EC0-A4C3-6EC312F8226C}" type="pres">
      <dgm:prSet presAssocID="{5A90A0F5-312D-4E20-8280-526C288E0D41}" presName="textB" presStyleLbl="revTx" presStyleIdx="5" presStyleCnt="7">
        <dgm:presLayoutVars>
          <dgm:bulletEnabled val="1"/>
        </dgm:presLayoutVars>
      </dgm:prSet>
      <dgm:spPr/>
    </dgm:pt>
    <dgm:pt modelId="{DE33B5D5-F2B0-494B-833F-82A1C91665B9}" type="pres">
      <dgm:prSet presAssocID="{5A90A0F5-312D-4E20-8280-526C288E0D41}" presName="circleB" presStyleLbl="node1" presStyleIdx="5" presStyleCnt="7"/>
      <dgm:spPr/>
    </dgm:pt>
    <dgm:pt modelId="{130ED02C-71BE-4BC4-B2D8-C790CC1ED1C7}" type="pres">
      <dgm:prSet presAssocID="{5A90A0F5-312D-4E20-8280-526C288E0D41}" presName="spaceB" presStyleCnt="0"/>
      <dgm:spPr/>
    </dgm:pt>
    <dgm:pt modelId="{1E933607-6640-4347-AF96-FEA879FF3A17}" type="pres">
      <dgm:prSet presAssocID="{2FA32A54-4D4C-4DAE-AF87-455E25518CC2}" presName="space" presStyleCnt="0"/>
      <dgm:spPr/>
    </dgm:pt>
    <dgm:pt modelId="{A7F9427A-DC21-4ED5-96A0-19D702FED172}" type="pres">
      <dgm:prSet presAssocID="{36989B63-45B5-431B-972D-BB1A8C9123F3}" presName="compositeA" presStyleCnt="0"/>
      <dgm:spPr/>
    </dgm:pt>
    <dgm:pt modelId="{3763DAA6-5F44-48CD-92A5-0FDB55275FD4}" type="pres">
      <dgm:prSet presAssocID="{36989B63-45B5-431B-972D-BB1A8C9123F3}" presName="textA" presStyleLbl="revTx" presStyleIdx="6" presStyleCnt="7" custLinFactNeighborX="-3002" custLinFactNeighborY="-24259">
        <dgm:presLayoutVars>
          <dgm:bulletEnabled val="1"/>
        </dgm:presLayoutVars>
      </dgm:prSet>
      <dgm:spPr/>
    </dgm:pt>
    <dgm:pt modelId="{AFA1D2F5-8065-4ED9-A23E-EE2107F8EEA4}" type="pres">
      <dgm:prSet presAssocID="{36989B63-45B5-431B-972D-BB1A8C9123F3}" presName="circleA" presStyleLbl="node1" presStyleIdx="6" presStyleCnt="7"/>
      <dgm:spPr/>
    </dgm:pt>
    <dgm:pt modelId="{377BCCB4-432E-4AC0-8360-AFAA22707657}" type="pres">
      <dgm:prSet presAssocID="{36989B63-45B5-431B-972D-BB1A8C9123F3}" presName="spaceA" presStyleCnt="0"/>
      <dgm:spPr/>
    </dgm:pt>
  </dgm:ptLst>
  <dgm:cxnLst>
    <dgm:cxn modelId="{9EB5F70F-283C-431F-8031-2D2C7DD3F653}" type="presOf" srcId="{DD83408E-E776-4DE7-8F9A-59847E85C44E}" destId="{5C8444FB-5331-43C3-B492-053BF5B9F7E9}" srcOrd="0" destOrd="0" presId="urn:microsoft.com/office/officeart/2005/8/layout/hProcess11"/>
    <dgm:cxn modelId="{F5319110-3ADF-47D8-8ED5-01D515B0AC75}" srcId="{6FF5F22A-AA61-4AF2-A1D1-A61E2EF67AD1}" destId="{16A61012-1189-4345-8A56-B3CDC6DC824D}" srcOrd="0" destOrd="0" parTransId="{78D923B2-A731-41CA-B875-F372D7BBB27F}" sibTransId="{700110D6-4B35-43F6-8E89-7F5A9F29730E}"/>
    <dgm:cxn modelId="{6AAD912C-9313-4284-8EF2-82436B526E7C}" type="presOf" srcId="{524B3C54-1CB8-426C-8857-E9E8E83A383C}" destId="{9C7E712D-2E8C-4523-A235-BBBA252E5794}" srcOrd="0" destOrd="0" presId="urn:microsoft.com/office/officeart/2005/8/layout/hProcess11"/>
    <dgm:cxn modelId="{58F79B41-5DA4-4489-AA75-27622E911987}" type="presOf" srcId="{6FF5F22A-AA61-4AF2-A1D1-A61E2EF67AD1}" destId="{BF1B7D4C-CAD3-45BA-B64E-A62DF850EBD0}" srcOrd="0" destOrd="0" presId="urn:microsoft.com/office/officeart/2005/8/layout/hProcess11"/>
    <dgm:cxn modelId="{1A9D4782-1884-4D28-A40E-4AFA7B7B2D56}" type="presOf" srcId="{5A90A0F5-312D-4E20-8280-526C288E0D41}" destId="{EE4B9F34-B3A7-4EC0-A4C3-6EC312F8226C}" srcOrd="0" destOrd="0" presId="urn:microsoft.com/office/officeart/2005/8/layout/hProcess11"/>
    <dgm:cxn modelId="{B0A19C82-E389-41FB-B306-9F5F3063158E}" srcId="{6FF5F22A-AA61-4AF2-A1D1-A61E2EF67AD1}" destId="{524B3C54-1CB8-426C-8857-E9E8E83A383C}" srcOrd="2" destOrd="0" parTransId="{5B20945F-CCDB-4F7F-A735-CC80DE161177}" sibTransId="{957F1A33-9D64-4340-9CB9-B90515F73475}"/>
    <dgm:cxn modelId="{3D72C08B-88E6-4086-A269-68DC4641A7A7}" type="presOf" srcId="{36989B63-45B5-431B-972D-BB1A8C9123F3}" destId="{3763DAA6-5F44-48CD-92A5-0FDB55275FD4}" srcOrd="0" destOrd="0" presId="urn:microsoft.com/office/officeart/2005/8/layout/hProcess11"/>
    <dgm:cxn modelId="{4F41D396-155B-49BA-841B-B7A4F4062279}" srcId="{6FF5F22A-AA61-4AF2-A1D1-A61E2EF67AD1}" destId="{5A90A0F5-312D-4E20-8280-526C288E0D41}" srcOrd="5" destOrd="0" parTransId="{B8B31161-2E32-43B0-A4AA-234A3F514109}" sibTransId="{2FA32A54-4D4C-4DAE-AF87-455E25518CC2}"/>
    <dgm:cxn modelId="{1BD6F5A9-3CB9-4BB0-BCFA-3FFC937E786F}" srcId="{6FF5F22A-AA61-4AF2-A1D1-A61E2EF67AD1}" destId="{BB38A084-FB7B-4E2E-8CD4-6BF88CE88360}" srcOrd="4" destOrd="0" parTransId="{956BC4CA-A5D1-4C17-9FA3-1A1A21A40D0A}" sibTransId="{C58DE255-5139-40D5-961F-BA221DD8C8B8}"/>
    <dgm:cxn modelId="{A944B0B7-5C6E-498D-927E-E73E7E0CDD83}" type="presOf" srcId="{16A61012-1189-4345-8A56-B3CDC6DC824D}" destId="{40955B37-8B48-4EFB-987D-477544855E40}" srcOrd="0" destOrd="0" presId="urn:microsoft.com/office/officeart/2005/8/layout/hProcess11"/>
    <dgm:cxn modelId="{861096C9-6E62-4103-84D0-C054649DF6C6}" srcId="{6FF5F22A-AA61-4AF2-A1D1-A61E2EF67AD1}" destId="{36989B63-45B5-431B-972D-BB1A8C9123F3}" srcOrd="6" destOrd="0" parTransId="{D24CF2BA-68EC-4E11-BF70-99C6FD52D4B8}" sibTransId="{6C43A7FB-1D57-4304-815C-93772C091230}"/>
    <dgm:cxn modelId="{C183C0D7-5CCC-4C5E-BD6D-BA76187FF631}" type="presOf" srcId="{1B9DF62A-3B8F-467A-9E49-CF40B2184DB3}" destId="{77A1FCE6-4AEA-455E-89E5-AB77BC4D6776}" srcOrd="0" destOrd="0" presId="urn:microsoft.com/office/officeart/2005/8/layout/hProcess11"/>
    <dgm:cxn modelId="{55267DE3-E3E6-4300-8329-16AB7892D0B9}" srcId="{6FF5F22A-AA61-4AF2-A1D1-A61E2EF67AD1}" destId="{DD83408E-E776-4DE7-8F9A-59847E85C44E}" srcOrd="1" destOrd="0" parTransId="{028C5637-9D65-48E9-A00A-171DC695F145}" sibTransId="{EABAF5B2-74D5-4052-85FA-63D29716EC8A}"/>
    <dgm:cxn modelId="{8A764AF7-63E2-448F-BB6F-3772EC7CEC70}" srcId="{6FF5F22A-AA61-4AF2-A1D1-A61E2EF67AD1}" destId="{1B9DF62A-3B8F-467A-9E49-CF40B2184DB3}" srcOrd="3" destOrd="0" parTransId="{23FA8866-9046-4E3B-9894-FAEF91C50A5A}" sibTransId="{A0A472BE-B38F-4967-9258-D10E7218D832}"/>
    <dgm:cxn modelId="{E86199FF-C665-4451-9F63-B56B69BD6AAD}" type="presOf" srcId="{BB38A084-FB7B-4E2E-8CD4-6BF88CE88360}" destId="{04C64F2C-742B-480F-B650-869C53EDF0DD}" srcOrd="0" destOrd="0" presId="urn:microsoft.com/office/officeart/2005/8/layout/hProcess11"/>
    <dgm:cxn modelId="{1A6A426A-3DE6-44EF-8D09-53915865E0BA}" type="presParOf" srcId="{BF1B7D4C-CAD3-45BA-B64E-A62DF850EBD0}" destId="{32EBF91D-440A-49C1-8D75-46D60BA50822}" srcOrd="0" destOrd="0" presId="urn:microsoft.com/office/officeart/2005/8/layout/hProcess11"/>
    <dgm:cxn modelId="{1A0EA8A9-2997-4B60-BA04-BA95A942EF7F}" type="presParOf" srcId="{BF1B7D4C-CAD3-45BA-B64E-A62DF850EBD0}" destId="{E0140BAA-9B37-44CB-9698-D6A18EAA4F7D}" srcOrd="1" destOrd="0" presId="urn:microsoft.com/office/officeart/2005/8/layout/hProcess11"/>
    <dgm:cxn modelId="{7B81D2A5-C9C8-4B85-B4DE-6046D1CC62E8}" type="presParOf" srcId="{E0140BAA-9B37-44CB-9698-D6A18EAA4F7D}" destId="{490E5663-B550-47CD-917D-828810147AA9}" srcOrd="0" destOrd="0" presId="urn:microsoft.com/office/officeart/2005/8/layout/hProcess11"/>
    <dgm:cxn modelId="{49B62494-791F-4547-903F-5D31B40C5EA2}" type="presParOf" srcId="{490E5663-B550-47CD-917D-828810147AA9}" destId="{40955B37-8B48-4EFB-987D-477544855E40}" srcOrd="0" destOrd="0" presId="urn:microsoft.com/office/officeart/2005/8/layout/hProcess11"/>
    <dgm:cxn modelId="{4FA88F59-F76B-4A27-BB4F-349D86C67FBC}" type="presParOf" srcId="{490E5663-B550-47CD-917D-828810147AA9}" destId="{882436B5-800E-405E-98FE-9C51C86EB96F}" srcOrd="1" destOrd="0" presId="urn:microsoft.com/office/officeart/2005/8/layout/hProcess11"/>
    <dgm:cxn modelId="{AE94A95B-A406-419C-BA11-B888C1C3EF1B}" type="presParOf" srcId="{490E5663-B550-47CD-917D-828810147AA9}" destId="{B020B5CA-09D6-49F7-92F5-432DCB6709DE}" srcOrd="2" destOrd="0" presId="urn:microsoft.com/office/officeart/2005/8/layout/hProcess11"/>
    <dgm:cxn modelId="{DC0A60F3-D4A3-4BEA-AC75-DD2CA6E95CD2}" type="presParOf" srcId="{E0140BAA-9B37-44CB-9698-D6A18EAA4F7D}" destId="{3AAB244D-C06F-4CCE-98DF-504219000993}" srcOrd="1" destOrd="0" presId="urn:microsoft.com/office/officeart/2005/8/layout/hProcess11"/>
    <dgm:cxn modelId="{C17B86CC-7793-4E84-B2E1-F1A104842ECA}" type="presParOf" srcId="{E0140BAA-9B37-44CB-9698-D6A18EAA4F7D}" destId="{276D45F1-217D-4010-9ADC-81AD3E8B5C85}" srcOrd="2" destOrd="0" presId="urn:microsoft.com/office/officeart/2005/8/layout/hProcess11"/>
    <dgm:cxn modelId="{F7B061BB-683A-4677-B988-ACBA63030A22}" type="presParOf" srcId="{276D45F1-217D-4010-9ADC-81AD3E8B5C85}" destId="{5C8444FB-5331-43C3-B492-053BF5B9F7E9}" srcOrd="0" destOrd="0" presId="urn:microsoft.com/office/officeart/2005/8/layout/hProcess11"/>
    <dgm:cxn modelId="{AD917BEB-2C4E-4922-ABE5-F89603229C12}" type="presParOf" srcId="{276D45F1-217D-4010-9ADC-81AD3E8B5C85}" destId="{15C0A00E-D396-4D57-A53D-3B2209999144}" srcOrd="1" destOrd="0" presId="urn:microsoft.com/office/officeart/2005/8/layout/hProcess11"/>
    <dgm:cxn modelId="{D241CA10-09E8-4040-90C1-7711206B6FBE}" type="presParOf" srcId="{276D45F1-217D-4010-9ADC-81AD3E8B5C85}" destId="{7FDC4373-2739-4D6F-B59A-800BCC19E5D4}" srcOrd="2" destOrd="0" presId="urn:microsoft.com/office/officeart/2005/8/layout/hProcess11"/>
    <dgm:cxn modelId="{2E03171C-3203-42AE-9F8B-DF35863134B9}" type="presParOf" srcId="{E0140BAA-9B37-44CB-9698-D6A18EAA4F7D}" destId="{7891A0A0-E911-4463-8EA3-43D6D1318F79}" srcOrd="3" destOrd="0" presId="urn:microsoft.com/office/officeart/2005/8/layout/hProcess11"/>
    <dgm:cxn modelId="{66C2CD97-8DA3-4295-B7B2-88E06A8C7C13}" type="presParOf" srcId="{E0140BAA-9B37-44CB-9698-D6A18EAA4F7D}" destId="{C7DAE862-908B-4948-82EC-DF024DFD97F7}" srcOrd="4" destOrd="0" presId="urn:microsoft.com/office/officeart/2005/8/layout/hProcess11"/>
    <dgm:cxn modelId="{F0890539-24DE-48B8-93B8-FDDEBC9D5408}" type="presParOf" srcId="{C7DAE862-908B-4948-82EC-DF024DFD97F7}" destId="{9C7E712D-2E8C-4523-A235-BBBA252E5794}" srcOrd="0" destOrd="0" presId="urn:microsoft.com/office/officeart/2005/8/layout/hProcess11"/>
    <dgm:cxn modelId="{1EC8E3CF-03AA-43C3-A6A8-9880D77828E6}" type="presParOf" srcId="{C7DAE862-908B-4948-82EC-DF024DFD97F7}" destId="{B9F80B3E-8451-4F12-8A0C-E07341C7DB5E}" srcOrd="1" destOrd="0" presId="urn:microsoft.com/office/officeart/2005/8/layout/hProcess11"/>
    <dgm:cxn modelId="{D0F45B3D-5F97-4EDB-9D4F-5D27A5F2374F}" type="presParOf" srcId="{C7DAE862-908B-4948-82EC-DF024DFD97F7}" destId="{0706AC73-AAAD-416A-93FC-6630C37FB1A4}" srcOrd="2" destOrd="0" presId="urn:microsoft.com/office/officeart/2005/8/layout/hProcess11"/>
    <dgm:cxn modelId="{B0F4D058-B229-42A4-A2D6-2091D4DB172D}" type="presParOf" srcId="{E0140BAA-9B37-44CB-9698-D6A18EAA4F7D}" destId="{F8A81B2E-1FAE-4A9C-AD26-7734D53A11E9}" srcOrd="5" destOrd="0" presId="urn:microsoft.com/office/officeart/2005/8/layout/hProcess11"/>
    <dgm:cxn modelId="{4BD91894-DFAA-4554-A833-22ECAEAF75D3}" type="presParOf" srcId="{E0140BAA-9B37-44CB-9698-D6A18EAA4F7D}" destId="{9FB6365B-7DC3-4A4D-A018-ECF26E856FEA}" srcOrd="6" destOrd="0" presId="urn:microsoft.com/office/officeart/2005/8/layout/hProcess11"/>
    <dgm:cxn modelId="{5F6FB889-1D02-44F7-AFDB-D7871BF98431}" type="presParOf" srcId="{9FB6365B-7DC3-4A4D-A018-ECF26E856FEA}" destId="{77A1FCE6-4AEA-455E-89E5-AB77BC4D6776}" srcOrd="0" destOrd="0" presId="urn:microsoft.com/office/officeart/2005/8/layout/hProcess11"/>
    <dgm:cxn modelId="{494FE1E8-F63A-4B58-8C40-E7BD6B944790}" type="presParOf" srcId="{9FB6365B-7DC3-4A4D-A018-ECF26E856FEA}" destId="{C58FB4DE-F43A-453C-8117-A7870F3E6B7F}" srcOrd="1" destOrd="0" presId="urn:microsoft.com/office/officeart/2005/8/layout/hProcess11"/>
    <dgm:cxn modelId="{94F1E8B6-0C86-48D8-8388-3B943CEA575E}" type="presParOf" srcId="{9FB6365B-7DC3-4A4D-A018-ECF26E856FEA}" destId="{D62C5C09-DBD7-4C5D-854D-6B7B5C5D2F4A}" srcOrd="2" destOrd="0" presId="urn:microsoft.com/office/officeart/2005/8/layout/hProcess11"/>
    <dgm:cxn modelId="{BC290F0B-99C2-41E3-8B76-5B53F8898B81}" type="presParOf" srcId="{E0140BAA-9B37-44CB-9698-D6A18EAA4F7D}" destId="{056D7707-71F9-4294-B2FF-976ED8CD4BDF}" srcOrd="7" destOrd="0" presId="urn:microsoft.com/office/officeart/2005/8/layout/hProcess11"/>
    <dgm:cxn modelId="{E09BFF15-892D-4A30-9653-D7DA9B9D61A0}" type="presParOf" srcId="{E0140BAA-9B37-44CB-9698-D6A18EAA4F7D}" destId="{3BE00037-2613-405A-9FE8-4EC05B4F83C6}" srcOrd="8" destOrd="0" presId="urn:microsoft.com/office/officeart/2005/8/layout/hProcess11"/>
    <dgm:cxn modelId="{DC68CC23-C813-4549-83EF-EA228B2F1E05}" type="presParOf" srcId="{3BE00037-2613-405A-9FE8-4EC05B4F83C6}" destId="{04C64F2C-742B-480F-B650-869C53EDF0DD}" srcOrd="0" destOrd="0" presId="urn:microsoft.com/office/officeart/2005/8/layout/hProcess11"/>
    <dgm:cxn modelId="{F41D0859-5B0D-4E26-8305-F9EA8DA7F11D}" type="presParOf" srcId="{3BE00037-2613-405A-9FE8-4EC05B4F83C6}" destId="{07DB3892-C582-4228-8D17-B3B37BEC29FF}" srcOrd="1" destOrd="0" presId="urn:microsoft.com/office/officeart/2005/8/layout/hProcess11"/>
    <dgm:cxn modelId="{D921113B-2455-4356-9EBA-61600E369D40}" type="presParOf" srcId="{3BE00037-2613-405A-9FE8-4EC05B4F83C6}" destId="{2C1BD533-017A-4124-B96C-191427FA3FA4}" srcOrd="2" destOrd="0" presId="urn:microsoft.com/office/officeart/2005/8/layout/hProcess11"/>
    <dgm:cxn modelId="{FE506C4A-2B1D-46E5-AE5E-694A3E6F23C4}" type="presParOf" srcId="{E0140BAA-9B37-44CB-9698-D6A18EAA4F7D}" destId="{1FD950B5-23C1-47F7-A920-758C4B179FFC}" srcOrd="9" destOrd="0" presId="urn:microsoft.com/office/officeart/2005/8/layout/hProcess11"/>
    <dgm:cxn modelId="{51906BA6-7C02-485B-B055-BB9834A51C2E}" type="presParOf" srcId="{E0140BAA-9B37-44CB-9698-D6A18EAA4F7D}" destId="{EF110AF8-C238-4B49-BF67-E09EA1313651}" srcOrd="10" destOrd="0" presId="urn:microsoft.com/office/officeart/2005/8/layout/hProcess11"/>
    <dgm:cxn modelId="{958DD57B-4D48-4F89-8705-081D7E07FF4B}" type="presParOf" srcId="{EF110AF8-C238-4B49-BF67-E09EA1313651}" destId="{EE4B9F34-B3A7-4EC0-A4C3-6EC312F8226C}" srcOrd="0" destOrd="0" presId="urn:microsoft.com/office/officeart/2005/8/layout/hProcess11"/>
    <dgm:cxn modelId="{E0B72943-90F1-4E78-A39E-26EF9AA58FD9}" type="presParOf" srcId="{EF110AF8-C238-4B49-BF67-E09EA1313651}" destId="{DE33B5D5-F2B0-494B-833F-82A1C91665B9}" srcOrd="1" destOrd="0" presId="urn:microsoft.com/office/officeart/2005/8/layout/hProcess11"/>
    <dgm:cxn modelId="{6798B520-10CD-4B31-9FE5-3333B1867D31}" type="presParOf" srcId="{EF110AF8-C238-4B49-BF67-E09EA1313651}" destId="{130ED02C-71BE-4BC4-B2D8-C790CC1ED1C7}" srcOrd="2" destOrd="0" presId="urn:microsoft.com/office/officeart/2005/8/layout/hProcess11"/>
    <dgm:cxn modelId="{22DABBA4-90C9-4D3D-B943-C15CA2471513}" type="presParOf" srcId="{E0140BAA-9B37-44CB-9698-D6A18EAA4F7D}" destId="{1E933607-6640-4347-AF96-FEA879FF3A17}" srcOrd="11" destOrd="0" presId="urn:microsoft.com/office/officeart/2005/8/layout/hProcess11"/>
    <dgm:cxn modelId="{6F77E23C-6421-4607-BF42-8B48BCECC6A0}" type="presParOf" srcId="{E0140BAA-9B37-44CB-9698-D6A18EAA4F7D}" destId="{A7F9427A-DC21-4ED5-96A0-19D702FED172}" srcOrd="12" destOrd="0" presId="urn:microsoft.com/office/officeart/2005/8/layout/hProcess11"/>
    <dgm:cxn modelId="{2BB9A07A-4586-42E2-A345-B27DB7B1ED9A}" type="presParOf" srcId="{A7F9427A-DC21-4ED5-96A0-19D702FED172}" destId="{3763DAA6-5F44-48CD-92A5-0FDB55275FD4}" srcOrd="0" destOrd="0" presId="urn:microsoft.com/office/officeart/2005/8/layout/hProcess11"/>
    <dgm:cxn modelId="{822FEB13-227F-41AB-AB34-5E49C0EA9864}" type="presParOf" srcId="{A7F9427A-DC21-4ED5-96A0-19D702FED172}" destId="{AFA1D2F5-8065-4ED9-A23E-EE2107F8EEA4}" srcOrd="1" destOrd="0" presId="urn:microsoft.com/office/officeart/2005/8/layout/hProcess11"/>
    <dgm:cxn modelId="{2C74340A-E3EF-4B4E-9D7C-F21434943BB8}" type="presParOf" srcId="{A7F9427A-DC21-4ED5-96A0-19D702FED172}" destId="{377BCCB4-432E-4AC0-8360-AFAA2270765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66D563-9A1E-4171-A979-38F2286331AD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8F71577C-8BAA-4C99-A409-402AD0C3991E}">
      <dgm:prSet phldrT="[Text]" phldr="0" custT="1"/>
      <dgm:spPr/>
      <dgm:t>
        <a:bodyPr/>
        <a:lstStyle/>
        <a:p>
          <a:pPr algn="ctr"/>
          <a:r>
            <a:rPr lang="en-US" altLang="zh-CN" sz="1400" dirty="0"/>
            <a:t>Features</a:t>
          </a:r>
          <a:endParaRPr lang="zh-CN" altLang="en-US" sz="1400" dirty="0"/>
        </a:p>
      </dgm:t>
    </dgm:pt>
    <dgm:pt modelId="{74062C6E-08F1-413E-8575-4B66F71F13D1}" type="parTrans" cxnId="{66206CD6-3BE3-4CC6-8C91-9CA534351954}">
      <dgm:prSet/>
      <dgm:spPr/>
      <dgm:t>
        <a:bodyPr/>
        <a:lstStyle/>
        <a:p>
          <a:endParaRPr lang="zh-CN" altLang="en-US"/>
        </a:p>
      </dgm:t>
    </dgm:pt>
    <dgm:pt modelId="{EAE21E41-7AE4-4A8F-A10D-E93E092059E9}" type="sibTrans" cxnId="{66206CD6-3BE3-4CC6-8C91-9CA534351954}">
      <dgm:prSet/>
      <dgm:spPr/>
      <dgm:t>
        <a:bodyPr/>
        <a:lstStyle/>
        <a:p>
          <a:endParaRPr lang="zh-CN" altLang="en-US"/>
        </a:p>
      </dgm:t>
    </dgm:pt>
    <dgm:pt modelId="{DAAD81A3-699B-401C-A90D-F09821EACA39}">
      <dgm:prSet phldrT="[Text]" phldr="0" custT="1"/>
      <dgm:spPr/>
      <dgm:t>
        <a:bodyPr/>
        <a:lstStyle/>
        <a:p>
          <a:pPr algn="ctr"/>
          <a:r>
            <a:rPr lang="en-US" altLang="zh-CN" sz="1400" dirty="0"/>
            <a:t>Preprocessing</a:t>
          </a:r>
          <a:endParaRPr lang="zh-CN" altLang="en-US" sz="1400" dirty="0"/>
        </a:p>
      </dgm:t>
    </dgm:pt>
    <dgm:pt modelId="{F3770F2B-7E2C-4D78-A108-F9D228EBB070}" type="parTrans" cxnId="{82BEDB55-E296-4C1D-8B75-D429387B48F6}">
      <dgm:prSet/>
      <dgm:spPr/>
      <dgm:t>
        <a:bodyPr/>
        <a:lstStyle/>
        <a:p>
          <a:endParaRPr lang="zh-CN" altLang="en-US"/>
        </a:p>
      </dgm:t>
    </dgm:pt>
    <dgm:pt modelId="{C0E51004-6555-4FBB-88EB-08F71F93EFFF}" type="sibTrans" cxnId="{82BEDB55-E296-4C1D-8B75-D429387B48F6}">
      <dgm:prSet/>
      <dgm:spPr/>
      <dgm:t>
        <a:bodyPr/>
        <a:lstStyle/>
        <a:p>
          <a:endParaRPr lang="zh-CN" altLang="en-US"/>
        </a:p>
      </dgm:t>
    </dgm:pt>
    <dgm:pt modelId="{1FF94E85-C917-4D7E-A124-D0E6F5AA7E70}">
      <dgm:prSet phldrT="[Text]" phldr="0" custT="1"/>
      <dgm:spPr/>
      <dgm:t>
        <a:bodyPr/>
        <a:lstStyle/>
        <a:p>
          <a:pPr algn="ctr"/>
          <a:r>
            <a:rPr lang="en-US" altLang="zh-CN" sz="1400" dirty="0"/>
            <a:t>Models (SARIMAX, RF, LSTM, GBM)</a:t>
          </a:r>
          <a:endParaRPr lang="zh-CN" altLang="en-US" sz="1400" dirty="0"/>
        </a:p>
      </dgm:t>
    </dgm:pt>
    <dgm:pt modelId="{9EDCDD24-4A20-4DB6-B796-7C8974B31403}" type="parTrans" cxnId="{276FD3F7-83C0-436C-B6D2-D970202BDBC4}">
      <dgm:prSet/>
      <dgm:spPr/>
      <dgm:t>
        <a:bodyPr/>
        <a:lstStyle/>
        <a:p>
          <a:endParaRPr lang="zh-CN" altLang="en-US"/>
        </a:p>
      </dgm:t>
    </dgm:pt>
    <dgm:pt modelId="{EA52220D-62B9-4B22-B8E5-86331658B5A0}" type="sibTrans" cxnId="{276FD3F7-83C0-436C-B6D2-D970202BDBC4}">
      <dgm:prSet/>
      <dgm:spPr/>
      <dgm:t>
        <a:bodyPr/>
        <a:lstStyle/>
        <a:p>
          <a:endParaRPr lang="zh-CN" altLang="en-US"/>
        </a:p>
      </dgm:t>
    </dgm:pt>
    <dgm:pt modelId="{5C88BB18-9EB9-4640-890B-67A622B367C5}">
      <dgm:prSet phldrT="[Text]" phldr="0" custT="1"/>
      <dgm:spPr/>
      <dgm:t>
        <a:bodyPr/>
        <a:lstStyle/>
        <a:p>
          <a:pPr algn="ctr"/>
          <a:r>
            <a:rPr lang="en-US" altLang="zh-CN" sz="1400" dirty="0"/>
            <a:t>Ensemble</a:t>
          </a:r>
          <a:endParaRPr lang="zh-CN" altLang="en-US" sz="1400" dirty="0"/>
        </a:p>
      </dgm:t>
    </dgm:pt>
    <dgm:pt modelId="{03BB6AE3-78A5-47BE-876A-42DF4079B8C1}" type="parTrans" cxnId="{6EC5C539-8194-4BE4-8B5D-E15CA0993FF7}">
      <dgm:prSet/>
      <dgm:spPr/>
      <dgm:t>
        <a:bodyPr/>
        <a:lstStyle/>
        <a:p>
          <a:endParaRPr lang="zh-CN" altLang="en-US"/>
        </a:p>
      </dgm:t>
    </dgm:pt>
    <dgm:pt modelId="{EFC52850-10C1-4E94-873E-18218AE30554}" type="sibTrans" cxnId="{6EC5C539-8194-4BE4-8B5D-E15CA0993FF7}">
      <dgm:prSet/>
      <dgm:spPr/>
      <dgm:t>
        <a:bodyPr/>
        <a:lstStyle/>
        <a:p>
          <a:endParaRPr lang="zh-CN" altLang="en-US"/>
        </a:p>
      </dgm:t>
    </dgm:pt>
    <dgm:pt modelId="{1BA17FA8-F245-4FE3-9A48-40D9EFD8DCE6}">
      <dgm:prSet phldrT="[Text]" phldr="0" custT="1"/>
      <dgm:spPr/>
      <dgm:t>
        <a:bodyPr/>
        <a:lstStyle/>
        <a:p>
          <a:pPr algn="ctr"/>
          <a:r>
            <a:rPr lang="en-US" altLang="zh-CN" sz="1400" dirty="0"/>
            <a:t>Forecasts</a:t>
          </a:r>
          <a:endParaRPr lang="zh-CN" altLang="en-US" sz="1400" dirty="0"/>
        </a:p>
      </dgm:t>
    </dgm:pt>
    <dgm:pt modelId="{AB02DCB0-D5C4-4B1A-88E2-F1C2AE65001E}" type="parTrans" cxnId="{DAE59FC3-6922-4EAF-85C6-87AF743430E6}">
      <dgm:prSet/>
      <dgm:spPr/>
      <dgm:t>
        <a:bodyPr/>
        <a:lstStyle/>
        <a:p>
          <a:endParaRPr lang="zh-CN" altLang="en-US"/>
        </a:p>
      </dgm:t>
    </dgm:pt>
    <dgm:pt modelId="{BAAD086E-3727-4415-8532-8881EBFF24FD}" type="sibTrans" cxnId="{DAE59FC3-6922-4EAF-85C6-87AF743430E6}">
      <dgm:prSet/>
      <dgm:spPr/>
      <dgm:t>
        <a:bodyPr/>
        <a:lstStyle/>
        <a:p>
          <a:endParaRPr lang="zh-CN" altLang="en-US"/>
        </a:p>
      </dgm:t>
    </dgm:pt>
    <dgm:pt modelId="{CB0C2396-3EF2-438B-9861-283358549377}" type="pres">
      <dgm:prSet presAssocID="{C366D563-9A1E-4171-A979-38F2286331AD}" presName="rootnode" presStyleCnt="0">
        <dgm:presLayoutVars>
          <dgm:chMax/>
          <dgm:chPref/>
          <dgm:dir/>
          <dgm:animLvl val="lvl"/>
        </dgm:presLayoutVars>
      </dgm:prSet>
      <dgm:spPr/>
    </dgm:pt>
    <dgm:pt modelId="{C7CEDA96-908F-4536-9E05-B269E56E7F89}" type="pres">
      <dgm:prSet presAssocID="{8F71577C-8BAA-4C99-A409-402AD0C3991E}" presName="composite" presStyleCnt="0"/>
      <dgm:spPr/>
    </dgm:pt>
    <dgm:pt modelId="{2C25DEBD-7390-4FB5-B4EB-C892D24AFD58}" type="pres">
      <dgm:prSet presAssocID="{8F71577C-8BAA-4C99-A409-402AD0C3991E}" presName="bentUpArrow1" presStyleLbl="alignImgPlace1" presStyleIdx="0" presStyleCnt="4"/>
      <dgm:spPr/>
    </dgm:pt>
    <dgm:pt modelId="{7816B9FB-28DD-4AF8-9976-D28F50A24B4B}" type="pres">
      <dgm:prSet presAssocID="{8F71577C-8BAA-4C99-A409-402AD0C3991E}" presName="ParentText" presStyleLbl="node1" presStyleIdx="0" presStyleCnt="5" custScaleX="124196">
        <dgm:presLayoutVars>
          <dgm:chMax val="1"/>
          <dgm:chPref val="1"/>
          <dgm:bulletEnabled val="1"/>
        </dgm:presLayoutVars>
      </dgm:prSet>
      <dgm:spPr/>
    </dgm:pt>
    <dgm:pt modelId="{D2B10329-B322-4646-84DF-7767F6D71563}" type="pres">
      <dgm:prSet presAssocID="{8F71577C-8BAA-4C99-A409-402AD0C3991E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D91C2A6-5035-4B75-9947-5FA3A74BA271}" type="pres">
      <dgm:prSet presAssocID="{EAE21E41-7AE4-4A8F-A10D-E93E092059E9}" presName="sibTrans" presStyleCnt="0"/>
      <dgm:spPr/>
    </dgm:pt>
    <dgm:pt modelId="{EAB43DB6-DBE3-4C32-90CB-B4AA3B1CC3AB}" type="pres">
      <dgm:prSet presAssocID="{DAAD81A3-699B-401C-A90D-F09821EACA39}" presName="composite" presStyleCnt="0"/>
      <dgm:spPr/>
    </dgm:pt>
    <dgm:pt modelId="{555C0F10-3BA0-4F74-8932-F41E1C7C87B8}" type="pres">
      <dgm:prSet presAssocID="{DAAD81A3-699B-401C-A90D-F09821EACA39}" presName="bentUpArrow1" presStyleLbl="alignImgPlace1" presStyleIdx="1" presStyleCnt="4"/>
      <dgm:spPr/>
    </dgm:pt>
    <dgm:pt modelId="{E497E64F-BC9D-4802-AAFF-BFA287ADD583}" type="pres">
      <dgm:prSet presAssocID="{DAAD81A3-699B-401C-A90D-F09821EACA39}" presName="ParentText" presStyleLbl="node1" presStyleIdx="1" presStyleCnt="5" custScaleX="124196">
        <dgm:presLayoutVars>
          <dgm:chMax val="1"/>
          <dgm:chPref val="1"/>
          <dgm:bulletEnabled val="1"/>
        </dgm:presLayoutVars>
      </dgm:prSet>
      <dgm:spPr/>
    </dgm:pt>
    <dgm:pt modelId="{394EC9ED-1B0C-4126-9288-7D3E496F55F6}" type="pres">
      <dgm:prSet presAssocID="{DAAD81A3-699B-401C-A90D-F09821EACA39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D0AB96E2-5BD4-4750-90DD-ED9211201AE3}" type="pres">
      <dgm:prSet presAssocID="{C0E51004-6555-4FBB-88EB-08F71F93EFFF}" presName="sibTrans" presStyleCnt="0"/>
      <dgm:spPr/>
    </dgm:pt>
    <dgm:pt modelId="{D2F9A73E-FBC0-43B9-A5FF-9518F9AB7D92}" type="pres">
      <dgm:prSet presAssocID="{1FF94E85-C917-4D7E-A124-D0E6F5AA7E70}" presName="composite" presStyleCnt="0"/>
      <dgm:spPr/>
    </dgm:pt>
    <dgm:pt modelId="{EA6514CC-DF9C-4178-8140-D7BEEA683BD9}" type="pres">
      <dgm:prSet presAssocID="{1FF94E85-C917-4D7E-A124-D0E6F5AA7E70}" presName="bentUpArrow1" presStyleLbl="alignImgPlace1" presStyleIdx="2" presStyleCnt="4"/>
      <dgm:spPr/>
    </dgm:pt>
    <dgm:pt modelId="{5078CE7D-3F7C-4993-B4D8-27929BBF820B}" type="pres">
      <dgm:prSet presAssocID="{1FF94E85-C917-4D7E-A124-D0E6F5AA7E70}" presName="ParentText" presStyleLbl="node1" presStyleIdx="2" presStyleCnt="5" custScaleX="124196">
        <dgm:presLayoutVars>
          <dgm:chMax val="1"/>
          <dgm:chPref val="1"/>
          <dgm:bulletEnabled val="1"/>
        </dgm:presLayoutVars>
      </dgm:prSet>
      <dgm:spPr/>
    </dgm:pt>
    <dgm:pt modelId="{7C64B0F1-700A-4974-BD7C-64F86464DC28}" type="pres">
      <dgm:prSet presAssocID="{1FF94E85-C917-4D7E-A124-D0E6F5AA7E70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57C828AD-FAA1-4E2B-8B7B-74AA867769B8}" type="pres">
      <dgm:prSet presAssocID="{EA52220D-62B9-4B22-B8E5-86331658B5A0}" presName="sibTrans" presStyleCnt="0"/>
      <dgm:spPr/>
    </dgm:pt>
    <dgm:pt modelId="{299E1015-3335-450A-A106-6CE8C63B0E3A}" type="pres">
      <dgm:prSet presAssocID="{5C88BB18-9EB9-4640-890B-67A622B367C5}" presName="composite" presStyleCnt="0"/>
      <dgm:spPr/>
    </dgm:pt>
    <dgm:pt modelId="{415DB612-DA68-46F8-B03B-12A8044A0460}" type="pres">
      <dgm:prSet presAssocID="{5C88BB18-9EB9-4640-890B-67A622B367C5}" presName="bentUpArrow1" presStyleLbl="alignImgPlace1" presStyleIdx="3" presStyleCnt="4"/>
      <dgm:spPr/>
    </dgm:pt>
    <dgm:pt modelId="{09450CE4-9D5D-49C3-98E1-D7A268590207}" type="pres">
      <dgm:prSet presAssocID="{5C88BB18-9EB9-4640-890B-67A622B367C5}" presName="ParentText" presStyleLbl="node1" presStyleIdx="3" presStyleCnt="5" custScaleX="124196">
        <dgm:presLayoutVars>
          <dgm:chMax val="1"/>
          <dgm:chPref val="1"/>
          <dgm:bulletEnabled val="1"/>
        </dgm:presLayoutVars>
      </dgm:prSet>
      <dgm:spPr/>
    </dgm:pt>
    <dgm:pt modelId="{A78CA49B-D550-42E2-BC3C-5741E85CB05B}" type="pres">
      <dgm:prSet presAssocID="{5C88BB18-9EB9-4640-890B-67A622B367C5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D0D19DEC-86E8-40D0-AB8E-65837BE4638F}" type="pres">
      <dgm:prSet presAssocID="{EFC52850-10C1-4E94-873E-18218AE30554}" presName="sibTrans" presStyleCnt="0"/>
      <dgm:spPr/>
    </dgm:pt>
    <dgm:pt modelId="{3EB06D10-CD95-4A99-8972-C6C9ABF8D2C9}" type="pres">
      <dgm:prSet presAssocID="{1BA17FA8-F245-4FE3-9A48-40D9EFD8DCE6}" presName="composite" presStyleCnt="0"/>
      <dgm:spPr/>
    </dgm:pt>
    <dgm:pt modelId="{79B32B2C-AC79-44A1-91C3-665908D39D07}" type="pres">
      <dgm:prSet presAssocID="{1BA17FA8-F245-4FE3-9A48-40D9EFD8DCE6}" presName="ParentText" presStyleLbl="node1" presStyleIdx="4" presStyleCnt="5" custScaleX="124196">
        <dgm:presLayoutVars>
          <dgm:chMax val="1"/>
          <dgm:chPref val="1"/>
          <dgm:bulletEnabled val="1"/>
        </dgm:presLayoutVars>
      </dgm:prSet>
      <dgm:spPr/>
    </dgm:pt>
  </dgm:ptLst>
  <dgm:cxnLst>
    <dgm:cxn modelId="{AD91DC08-2C2B-49CC-8682-6082126E5E19}" type="presOf" srcId="{C366D563-9A1E-4171-A979-38F2286331AD}" destId="{CB0C2396-3EF2-438B-9861-283358549377}" srcOrd="0" destOrd="0" presId="urn:microsoft.com/office/officeart/2005/8/layout/StepDownProcess"/>
    <dgm:cxn modelId="{C98C9D24-AB8C-4CED-9D77-D96F4903C876}" type="presOf" srcId="{5C88BB18-9EB9-4640-890B-67A622B367C5}" destId="{09450CE4-9D5D-49C3-98E1-D7A268590207}" srcOrd="0" destOrd="0" presId="urn:microsoft.com/office/officeart/2005/8/layout/StepDownProcess"/>
    <dgm:cxn modelId="{66CAA427-28EF-4B9E-A85D-E49E9BA2A7A0}" type="presOf" srcId="{1BA17FA8-F245-4FE3-9A48-40D9EFD8DCE6}" destId="{79B32B2C-AC79-44A1-91C3-665908D39D07}" srcOrd="0" destOrd="0" presId="urn:microsoft.com/office/officeart/2005/8/layout/StepDownProcess"/>
    <dgm:cxn modelId="{6EC5C539-8194-4BE4-8B5D-E15CA0993FF7}" srcId="{C366D563-9A1E-4171-A979-38F2286331AD}" destId="{5C88BB18-9EB9-4640-890B-67A622B367C5}" srcOrd="3" destOrd="0" parTransId="{03BB6AE3-78A5-47BE-876A-42DF4079B8C1}" sibTransId="{EFC52850-10C1-4E94-873E-18218AE30554}"/>
    <dgm:cxn modelId="{5E7B8144-467F-4CDD-BB9E-C3B062D750ED}" type="presOf" srcId="{1FF94E85-C917-4D7E-A124-D0E6F5AA7E70}" destId="{5078CE7D-3F7C-4993-B4D8-27929BBF820B}" srcOrd="0" destOrd="0" presId="urn:microsoft.com/office/officeart/2005/8/layout/StepDownProcess"/>
    <dgm:cxn modelId="{2269C866-7C4F-47D7-9604-21DE8AFC6628}" type="presOf" srcId="{8F71577C-8BAA-4C99-A409-402AD0C3991E}" destId="{7816B9FB-28DD-4AF8-9976-D28F50A24B4B}" srcOrd="0" destOrd="0" presId="urn:microsoft.com/office/officeart/2005/8/layout/StepDownProcess"/>
    <dgm:cxn modelId="{82BEDB55-E296-4C1D-8B75-D429387B48F6}" srcId="{C366D563-9A1E-4171-A979-38F2286331AD}" destId="{DAAD81A3-699B-401C-A90D-F09821EACA39}" srcOrd="1" destOrd="0" parTransId="{F3770F2B-7E2C-4D78-A108-F9D228EBB070}" sibTransId="{C0E51004-6555-4FBB-88EB-08F71F93EFFF}"/>
    <dgm:cxn modelId="{DAE59FC3-6922-4EAF-85C6-87AF743430E6}" srcId="{C366D563-9A1E-4171-A979-38F2286331AD}" destId="{1BA17FA8-F245-4FE3-9A48-40D9EFD8DCE6}" srcOrd="4" destOrd="0" parTransId="{AB02DCB0-D5C4-4B1A-88E2-F1C2AE65001E}" sibTransId="{BAAD086E-3727-4415-8532-8881EBFF24FD}"/>
    <dgm:cxn modelId="{66206CD6-3BE3-4CC6-8C91-9CA534351954}" srcId="{C366D563-9A1E-4171-A979-38F2286331AD}" destId="{8F71577C-8BAA-4C99-A409-402AD0C3991E}" srcOrd="0" destOrd="0" parTransId="{74062C6E-08F1-413E-8575-4B66F71F13D1}" sibTransId="{EAE21E41-7AE4-4A8F-A10D-E93E092059E9}"/>
    <dgm:cxn modelId="{276FD3F7-83C0-436C-B6D2-D970202BDBC4}" srcId="{C366D563-9A1E-4171-A979-38F2286331AD}" destId="{1FF94E85-C917-4D7E-A124-D0E6F5AA7E70}" srcOrd="2" destOrd="0" parTransId="{9EDCDD24-4A20-4DB6-B796-7C8974B31403}" sibTransId="{EA52220D-62B9-4B22-B8E5-86331658B5A0}"/>
    <dgm:cxn modelId="{08A7D9FF-FA16-4E2C-ADAC-CD75153E29E2}" type="presOf" srcId="{DAAD81A3-699B-401C-A90D-F09821EACA39}" destId="{E497E64F-BC9D-4802-AAFF-BFA287ADD583}" srcOrd="0" destOrd="0" presId="urn:microsoft.com/office/officeart/2005/8/layout/StepDownProcess"/>
    <dgm:cxn modelId="{D43DB195-3724-439F-A846-CFBB1F82F72C}" type="presParOf" srcId="{CB0C2396-3EF2-438B-9861-283358549377}" destId="{C7CEDA96-908F-4536-9E05-B269E56E7F89}" srcOrd="0" destOrd="0" presId="urn:microsoft.com/office/officeart/2005/8/layout/StepDownProcess"/>
    <dgm:cxn modelId="{11B40814-B62D-4873-943D-4933BCC1F92B}" type="presParOf" srcId="{C7CEDA96-908F-4536-9E05-B269E56E7F89}" destId="{2C25DEBD-7390-4FB5-B4EB-C892D24AFD58}" srcOrd="0" destOrd="0" presId="urn:microsoft.com/office/officeart/2005/8/layout/StepDownProcess"/>
    <dgm:cxn modelId="{13763EE4-7EF6-48F3-BFD8-99CD5342483B}" type="presParOf" srcId="{C7CEDA96-908F-4536-9E05-B269E56E7F89}" destId="{7816B9FB-28DD-4AF8-9976-D28F50A24B4B}" srcOrd="1" destOrd="0" presId="urn:microsoft.com/office/officeart/2005/8/layout/StepDownProcess"/>
    <dgm:cxn modelId="{D6624507-C893-4771-9CD2-DDEF3779403C}" type="presParOf" srcId="{C7CEDA96-908F-4536-9E05-B269E56E7F89}" destId="{D2B10329-B322-4646-84DF-7767F6D71563}" srcOrd="2" destOrd="0" presId="urn:microsoft.com/office/officeart/2005/8/layout/StepDownProcess"/>
    <dgm:cxn modelId="{E32B9509-4EC8-4B39-A82D-D144A36BB2B0}" type="presParOf" srcId="{CB0C2396-3EF2-438B-9861-283358549377}" destId="{5D91C2A6-5035-4B75-9947-5FA3A74BA271}" srcOrd="1" destOrd="0" presId="urn:microsoft.com/office/officeart/2005/8/layout/StepDownProcess"/>
    <dgm:cxn modelId="{2DD93E94-2992-417F-ADBE-F830631D1102}" type="presParOf" srcId="{CB0C2396-3EF2-438B-9861-283358549377}" destId="{EAB43DB6-DBE3-4C32-90CB-B4AA3B1CC3AB}" srcOrd="2" destOrd="0" presId="urn:microsoft.com/office/officeart/2005/8/layout/StepDownProcess"/>
    <dgm:cxn modelId="{5ACAAAC8-A20F-44A4-A60F-F051BC89EEEE}" type="presParOf" srcId="{EAB43DB6-DBE3-4C32-90CB-B4AA3B1CC3AB}" destId="{555C0F10-3BA0-4F74-8932-F41E1C7C87B8}" srcOrd="0" destOrd="0" presId="urn:microsoft.com/office/officeart/2005/8/layout/StepDownProcess"/>
    <dgm:cxn modelId="{15137F53-7142-4FA8-A775-EB61F8054787}" type="presParOf" srcId="{EAB43DB6-DBE3-4C32-90CB-B4AA3B1CC3AB}" destId="{E497E64F-BC9D-4802-AAFF-BFA287ADD583}" srcOrd="1" destOrd="0" presId="urn:microsoft.com/office/officeart/2005/8/layout/StepDownProcess"/>
    <dgm:cxn modelId="{2EF7BEDC-96BD-44C6-9034-2582F144C7FF}" type="presParOf" srcId="{EAB43DB6-DBE3-4C32-90CB-B4AA3B1CC3AB}" destId="{394EC9ED-1B0C-4126-9288-7D3E496F55F6}" srcOrd="2" destOrd="0" presId="urn:microsoft.com/office/officeart/2005/8/layout/StepDownProcess"/>
    <dgm:cxn modelId="{57C56F64-84DC-4EA6-BE55-C4109F747E5F}" type="presParOf" srcId="{CB0C2396-3EF2-438B-9861-283358549377}" destId="{D0AB96E2-5BD4-4750-90DD-ED9211201AE3}" srcOrd="3" destOrd="0" presId="urn:microsoft.com/office/officeart/2005/8/layout/StepDownProcess"/>
    <dgm:cxn modelId="{43BFB7F1-4AE4-4BE1-BFFB-2C21F843245B}" type="presParOf" srcId="{CB0C2396-3EF2-438B-9861-283358549377}" destId="{D2F9A73E-FBC0-43B9-A5FF-9518F9AB7D92}" srcOrd="4" destOrd="0" presId="urn:microsoft.com/office/officeart/2005/8/layout/StepDownProcess"/>
    <dgm:cxn modelId="{51FC819F-14D3-491A-9A33-5F981A3B4C49}" type="presParOf" srcId="{D2F9A73E-FBC0-43B9-A5FF-9518F9AB7D92}" destId="{EA6514CC-DF9C-4178-8140-D7BEEA683BD9}" srcOrd="0" destOrd="0" presId="urn:microsoft.com/office/officeart/2005/8/layout/StepDownProcess"/>
    <dgm:cxn modelId="{48EE648C-C42D-4E24-9DC4-73EA37081498}" type="presParOf" srcId="{D2F9A73E-FBC0-43B9-A5FF-9518F9AB7D92}" destId="{5078CE7D-3F7C-4993-B4D8-27929BBF820B}" srcOrd="1" destOrd="0" presId="urn:microsoft.com/office/officeart/2005/8/layout/StepDownProcess"/>
    <dgm:cxn modelId="{F50DAD2C-59C7-48FA-92FF-6B708906F288}" type="presParOf" srcId="{D2F9A73E-FBC0-43B9-A5FF-9518F9AB7D92}" destId="{7C64B0F1-700A-4974-BD7C-64F86464DC28}" srcOrd="2" destOrd="0" presId="urn:microsoft.com/office/officeart/2005/8/layout/StepDownProcess"/>
    <dgm:cxn modelId="{1A9E4711-7307-48E3-A1B4-282172183BDA}" type="presParOf" srcId="{CB0C2396-3EF2-438B-9861-283358549377}" destId="{57C828AD-FAA1-4E2B-8B7B-74AA867769B8}" srcOrd="5" destOrd="0" presId="urn:microsoft.com/office/officeart/2005/8/layout/StepDownProcess"/>
    <dgm:cxn modelId="{A3D7A70D-CBA6-4151-8908-B53041681A98}" type="presParOf" srcId="{CB0C2396-3EF2-438B-9861-283358549377}" destId="{299E1015-3335-450A-A106-6CE8C63B0E3A}" srcOrd="6" destOrd="0" presId="urn:microsoft.com/office/officeart/2005/8/layout/StepDownProcess"/>
    <dgm:cxn modelId="{432871C1-107D-47E2-9414-FBAF1D8BD9A9}" type="presParOf" srcId="{299E1015-3335-450A-A106-6CE8C63B0E3A}" destId="{415DB612-DA68-46F8-B03B-12A8044A0460}" srcOrd="0" destOrd="0" presId="urn:microsoft.com/office/officeart/2005/8/layout/StepDownProcess"/>
    <dgm:cxn modelId="{3ED8BC6D-9B43-4049-85EB-F11AE21A4F3F}" type="presParOf" srcId="{299E1015-3335-450A-A106-6CE8C63B0E3A}" destId="{09450CE4-9D5D-49C3-98E1-D7A268590207}" srcOrd="1" destOrd="0" presId="urn:microsoft.com/office/officeart/2005/8/layout/StepDownProcess"/>
    <dgm:cxn modelId="{12AD5E45-A08F-47B2-BFA9-B2EEDD57D44F}" type="presParOf" srcId="{299E1015-3335-450A-A106-6CE8C63B0E3A}" destId="{A78CA49B-D550-42E2-BC3C-5741E85CB05B}" srcOrd="2" destOrd="0" presId="urn:microsoft.com/office/officeart/2005/8/layout/StepDownProcess"/>
    <dgm:cxn modelId="{9F46BBA5-C4ED-45A4-9269-373C7C0EAE73}" type="presParOf" srcId="{CB0C2396-3EF2-438B-9861-283358549377}" destId="{D0D19DEC-86E8-40D0-AB8E-65837BE4638F}" srcOrd="7" destOrd="0" presId="urn:microsoft.com/office/officeart/2005/8/layout/StepDownProcess"/>
    <dgm:cxn modelId="{3F53AFC2-1D82-49E5-AC3D-04BA8A473314}" type="presParOf" srcId="{CB0C2396-3EF2-438B-9861-283358549377}" destId="{3EB06D10-CD95-4A99-8972-C6C9ABF8D2C9}" srcOrd="8" destOrd="0" presId="urn:microsoft.com/office/officeart/2005/8/layout/StepDownProcess"/>
    <dgm:cxn modelId="{8D32BE68-0F06-4905-B9C1-904E1573E387}" type="presParOf" srcId="{3EB06D10-CD95-4A99-8972-C6C9ABF8D2C9}" destId="{79B32B2C-AC79-44A1-91C3-665908D39D07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07F525-330E-408D-A74F-CF820040E875}" type="doc">
      <dgm:prSet loTypeId="urn:microsoft.com/office/officeart/2009/layout/CircleArrowProcess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47B9A37F-F350-4408-A70C-AF7A593BD08F}">
      <dgm:prSet phldrT="[Text]" phldr="0"/>
      <dgm:spPr/>
      <dgm:t>
        <a:bodyPr/>
        <a:lstStyle/>
        <a:p>
          <a:r>
            <a:rPr lang="en-US" altLang="zh-CN"/>
            <a:t>Forecast</a:t>
          </a:r>
          <a:endParaRPr lang="zh-CN" altLang="en-US"/>
        </a:p>
      </dgm:t>
    </dgm:pt>
    <dgm:pt modelId="{596FA3CF-31EF-43E5-A904-5F18A2F407B3}" type="parTrans" cxnId="{9E592BF7-3E4C-411D-A62A-2B35141A0F6B}">
      <dgm:prSet/>
      <dgm:spPr/>
      <dgm:t>
        <a:bodyPr/>
        <a:lstStyle/>
        <a:p>
          <a:endParaRPr lang="zh-CN" altLang="en-US"/>
        </a:p>
      </dgm:t>
    </dgm:pt>
    <dgm:pt modelId="{DA92B123-D47D-426C-9769-913D6412FB99}" type="sibTrans" cxnId="{9E592BF7-3E4C-411D-A62A-2B35141A0F6B}">
      <dgm:prSet/>
      <dgm:spPr/>
      <dgm:t>
        <a:bodyPr/>
        <a:lstStyle/>
        <a:p>
          <a:endParaRPr lang="zh-CN" altLang="en-US"/>
        </a:p>
      </dgm:t>
    </dgm:pt>
    <dgm:pt modelId="{C7477D6C-4A20-4FA2-B1E3-8681CB719671}">
      <dgm:prSet phldrT="[Text]" phldr="0"/>
      <dgm:spPr/>
      <dgm:t>
        <a:bodyPr/>
        <a:lstStyle/>
        <a:p>
          <a:r>
            <a:rPr lang="en-US" altLang="zh-CN" dirty="0"/>
            <a:t>Validate</a:t>
          </a:r>
          <a:endParaRPr lang="zh-CN" altLang="en-US" dirty="0"/>
        </a:p>
      </dgm:t>
    </dgm:pt>
    <dgm:pt modelId="{ADAAC869-6479-42D8-96F1-9AF0B7291CE4}" type="parTrans" cxnId="{AE594D4D-0C7B-4081-AF25-BAC265A86244}">
      <dgm:prSet/>
      <dgm:spPr/>
      <dgm:t>
        <a:bodyPr/>
        <a:lstStyle/>
        <a:p>
          <a:endParaRPr lang="zh-CN" altLang="en-US"/>
        </a:p>
      </dgm:t>
    </dgm:pt>
    <dgm:pt modelId="{A8E95F35-A737-4B6B-AE60-15A9DF15591B}" type="sibTrans" cxnId="{AE594D4D-0C7B-4081-AF25-BAC265A86244}">
      <dgm:prSet/>
      <dgm:spPr/>
      <dgm:t>
        <a:bodyPr/>
        <a:lstStyle/>
        <a:p>
          <a:endParaRPr lang="zh-CN" altLang="en-US"/>
        </a:p>
      </dgm:t>
    </dgm:pt>
    <dgm:pt modelId="{27FB4918-7438-46DF-960D-4B3F393E9CA5}">
      <dgm:prSet phldrT="[Text]" phldr="0"/>
      <dgm:spPr/>
      <dgm:t>
        <a:bodyPr/>
        <a:lstStyle/>
        <a:p>
          <a:r>
            <a:rPr lang="en-US" altLang="zh-CN" dirty="0"/>
            <a:t>Improve</a:t>
          </a:r>
          <a:endParaRPr lang="zh-CN" altLang="en-US" dirty="0"/>
        </a:p>
      </dgm:t>
    </dgm:pt>
    <dgm:pt modelId="{ACDCAECD-2054-4DBD-A923-88CBA99C2A92}" type="parTrans" cxnId="{75807DFA-B860-4D21-A0AB-4F378C7CED3C}">
      <dgm:prSet/>
      <dgm:spPr/>
      <dgm:t>
        <a:bodyPr/>
        <a:lstStyle/>
        <a:p>
          <a:endParaRPr lang="zh-CN" altLang="en-US"/>
        </a:p>
      </dgm:t>
    </dgm:pt>
    <dgm:pt modelId="{B66DC6A1-F897-40EC-B4E0-F15B987BAEDA}" type="sibTrans" cxnId="{75807DFA-B860-4D21-A0AB-4F378C7CED3C}">
      <dgm:prSet/>
      <dgm:spPr/>
      <dgm:t>
        <a:bodyPr/>
        <a:lstStyle/>
        <a:p>
          <a:endParaRPr lang="zh-CN" altLang="en-US"/>
        </a:p>
      </dgm:t>
    </dgm:pt>
    <dgm:pt modelId="{7B8F7590-59B2-46DB-AC5B-5233628D4428}">
      <dgm:prSet phldrT="[Text]" phldr="0"/>
      <dgm:spPr/>
      <dgm:t>
        <a:bodyPr/>
        <a:lstStyle/>
        <a:p>
          <a:r>
            <a:rPr lang="en-US" altLang="zh-CN" dirty="0"/>
            <a:t>New Forecast</a:t>
          </a:r>
          <a:endParaRPr lang="zh-CN" altLang="en-US" dirty="0"/>
        </a:p>
      </dgm:t>
    </dgm:pt>
    <dgm:pt modelId="{C820464B-3158-4C6B-B600-D72745B13030}" type="parTrans" cxnId="{D4F73AE0-6F6C-49AF-B3AE-9DE3311A2F9A}">
      <dgm:prSet/>
      <dgm:spPr/>
      <dgm:t>
        <a:bodyPr/>
        <a:lstStyle/>
        <a:p>
          <a:endParaRPr lang="zh-CN" altLang="en-US"/>
        </a:p>
      </dgm:t>
    </dgm:pt>
    <dgm:pt modelId="{0EE77D5E-1628-4F66-AA72-127F401064AB}" type="sibTrans" cxnId="{D4F73AE0-6F6C-49AF-B3AE-9DE3311A2F9A}">
      <dgm:prSet/>
      <dgm:spPr/>
      <dgm:t>
        <a:bodyPr/>
        <a:lstStyle/>
        <a:p>
          <a:endParaRPr lang="zh-CN" altLang="en-US"/>
        </a:p>
      </dgm:t>
    </dgm:pt>
    <dgm:pt modelId="{D011DF5F-7F50-42E1-87AC-BD6F68D10EB8}" type="pres">
      <dgm:prSet presAssocID="{4507F525-330E-408D-A74F-CF820040E875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2847930A-F8F8-4709-87A2-EAFE1B6351DF}" type="pres">
      <dgm:prSet presAssocID="{47B9A37F-F350-4408-A70C-AF7A593BD08F}" presName="Accent1" presStyleCnt="0"/>
      <dgm:spPr/>
    </dgm:pt>
    <dgm:pt modelId="{2628D1B1-42E8-47AD-88DA-090C130A8105}" type="pres">
      <dgm:prSet presAssocID="{47B9A37F-F350-4408-A70C-AF7A593BD08F}" presName="Accent" presStyleLbl="node1" presStyleIdx="0" presStyleCnt="4"/>
      <dgm:spPr/>
    </dgm:pt>
    <dgm:pt modelId="{A8280CA1-4151-4F34-82D1-E5BEDCC69309}" type="pres">
      <dgm:prSet presAssocID="{47B9A37F-F350-4408-A70C-AF7A593BD08F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9B8B16A9-07A5-4128-9F74-5B386D2676B4}" type="pres">
      <dgm:prSet presAssocID="{C7477D6C-4A20-4FA2-B1E3-8681CB719671}" presName="Accent2" presStyleCnt="0"/>
      <dgm:spPr/>
    </dgm:pt>
    <dgm:pt modelId="{38829222-B327-4486-813A-919507FCD6DA}" type="pres">
      <dgm:prSet presAssocID="{C7477D6C-4A20-4FA2-B1E3-8681CB719671}" presName="Accent" presStyleLbl="node1" presStyleIdx="1" presStyleCnt="4"/>
      <dgm:spPr/>
    </dgm:pt>
    <dgm:pt modelId="{AF43F85C-F279-4E13-8484-1A22CA836BDA}" type="pres">
      <dgm:prSet presAssocID="{C7477D6C-4A20-4FA2-B1E3-8681CB719671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3043560D-31AF-463D-8AD9-63183440E752}" type="pres">
      <dgm:prSet presAssocID="{27FB4918-7438-46DF-960D-4B3F393E9CA5}" presName="Accent3" presStyleCnt="0"/>
      <dgm:spPr/>
    </dgm:pt>
    <dgm:pt modelId="{16C75A07-C956-4AE2-83E4-408CEBA2D474}" type="pres">
      <dgm:prSet presAssocID="{27FB4918-7438-46DF-960D-4B3F393E9CA5}" presName="Accent" presStyleLbl="node1" presStyleIdx="2" presStyleCnt="4"/>
      <dgm:spPr/>
    </dgm:pt>
    <dgm:pt modelId="{B0ED4D03-0C86-4318-B3A3-75F3385F6CC5}" type="pres">
      <dgm:prSet presAssocID="{27FB4918-7438-46DF-960D-4B3F393E9CA5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79FE71AD-F918-4C90-93D2-9B3A2F82F531}" type="pres">
      <dgm:prSet presAssocID="{7B8F7590-59B2-46DB-AC5B-5233628D4428}" presName="Accent4" presStyleCnt="0"/>
      <dgm:spPr/>
    </dgm:pt>
    <dgm:pt modelId="{32FFF5AB-8853-436B-B4AE-3D49C459A3E0}" type="pres">
      <dgm:prSet presAssocID="{7B8F7590-59B2-46DB-AC5B-5233628D4428}" presName="Accent" presStyleLbl="node1" presStyleIdx="3" presStyleCnt="4"/>
      <dgm:spPr/>
    </dgm:pt>
    <dgm:pt modelId="{F0901C68-BF0D-498B-94F1-159D0FFF19B5}" type="pres">
      <dgm:prSet presAssocID="{7B8F7590-59B2-46DB-AC5B-5233628D4428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AE594D4D-0C7B-4081-AF25-BAC265A86244}" srcId="{4507F525-330E-408D-A74F-CF820040E875}" destId="{C7477D6C-4A20-4FA2-B1E3-8681CB719671}" srcOrd="1" destOrd="0" parTransId="{ADAAC869-6479-42D8-96F1-9AF0B7291CE4}" sibTransId="{A8E95F35-A737-4B6B-AE60-15A9DF15591B}"/>
    <dgm:cxn modelId="{F8E7B65A-A156-4084-93DB-F0737DC0F035}" type="presOf" srcId="{4507F525-330E-408D-A74F-CF820040E875}" destId="{D011DF5F-7F50-42E1-87AC-BD6F68D10EB8}" srcOrd="0" destOrd="0" presId="urn:microsoft.com/office/officeart/2009/layout/CircleArrowProcess"/>
    <dgm:cxn modelId="{2137F2A0-2868-44AE-9512-25CBFBF2713F}" type="presOf" srcId="{27FB4918-7438-46DF-960D-4B3F393E9CA5}" destId="{B0ED4D03-0C86-4318-B3A3-75F3385F6CC5}" srcOrd="0" destOrd="0" presId="urn:microsoft.com/office/officeart/2009/layout/CircleArrowProcess"/>
    <dgm:cxn modelId="{2F3F43A7-39E2-43ED-AF16-5A279958F939}" type="presOf" srcId="{7B8F7590-59B2-46DB-AC5B-5233628D4428}" destId="{F0901C68-BF0D-498B-94F1-159D0FFF19B5}" srcOrd="0" destOrd="0" presId="urn:microsoft.com/office/officeart/2009/layout/CircleArrowProcess"/>
    <dgm:cxn modelId="{333874C3-F2E1-4A18-8663-2C2C3592F55F}" type="presOf" srcId="{47B9A37F-F350-4408-A70C-AF7A593BD08F}" destId="{A8280CA1-4151-4F34-82D1-E5BEDCC69309}" srcOrd="0" destOrd="0" presId="urn:microsoft.com/office/officeart/2009/layout/CircleArrowProcess"/>
    <dgm:cxn modelId="{27D58ED1-8114-4EA2-8B62-9BCF3AA66D97}" type="presOf" srcId="{C7477D6C-4A20-4FA2-B1E3-8681CB719671}" destId="{AF43F85C-F279-4E13-8484-1A22CA836BDA}" srcOrd="0" destOrd="0" presId="urn:microsoft.com/office/officeart/2009/layout/CircleArrowProcess"/>
    <dgm:cxn modelId="{D4F73AE0-6F6C-49AF-B3AE-9DE3311A2F9A}" srcId="{4507F525-330E-408D-A74F-CF820040E875}" destId="{7B8F7590-59B2-46DB-AC5B-5233628D4428}" srcOrd="3" destOrd="0" parTransId="{C820464B-3158-4C6B-B600-D72745B13030}" sibTransId="{0EE77D5E-1628-4F66-AA72-127F401064AB}"/>
    <dgm:cxn modelId="{9E592BF7-3E4C-411D-A62A-2B35141A0F6B}" srcId="{4507F525-330E-408D-A74F-CF820040E875}" destId="{47B9A37F-F350-4408-A70C-AF7A593BD08F}" srcOrd="0" destOrd="0" parTransId="{596FA3CF-31EF-43E5-A904-5F18A2F407B3}" sibTransId="{DA92B123-D47D-426C-9769-913D6412FB99}"/>
    <dgm:cxn modelId="{75807DFA-B860-4D21-A0AB-4F378C7CED3C}" srcId="{4507F525-330E-408D-A74F-CF820040E875}" destId="{27FB4918-7438-46DF-960D-4B3F393E9CA5}" srcOrd="2" destOrd="0" parTransId="{ACDCAECD-2054-4DBD-A923-88CBA99C2A92}" sibTransId="{B66DC6A1-F897-40EC-B4E0-F15B987BAEDA}"/>
    <dgm:cxn modelId="{24477339-C455-41F3-AFE3-ECCD41D6AD00}" type="presParOf" srcId="{D011DF5F-7F50-42E1-87AC-BD6F68D10EB8}" destId="{2847930A-F8F8-4709-87A2-EAFE1B6351DF}" srcOrd="0" destOrd="0" presId="urn:microsoft.com/office/officeart/2009/layout/CircleArrowProcess"/>
    <dgm:cxn modelId="{1785915E-F72D-49D3-9400-3093862CB150}" type="presParOf" srcId="{2847930A-F8F8-4709-87A2-EAFE1B6351DF}" destId="{2628D1B1-42E8-47AD-88DA-090C130A8105}" srcOrd="0" destOrd="0" presId="urn:microsoft.com/office/officeart/2009/layout/CircleArrowProcess"/>
    <dgm:cxn modelId="{8178811D-C3CC-4070-8636-354ED5D6FDAE}" type="presParOf" srcId="{D011DF5F-7F50-42E1-87AC-BD6F68D10EB8}" destId="{A8280CA1-4151-4F34-82D1-E5BEDCC69309}" srcOrd="1" destOrd="0" presId="urn:microsoft.com/office/officeart/2009/layout/CircleArrowProcess"/>
    <dgm:cxn modelId="{B62EC45A-5114-45DB-894A-B5C74BFC3BDB}" type="presParOf" srcId="{D011DF5F-7F50-42E1-87AC-BD6F68D10EB8}" destId="{9B8B16A9-07A5-4128-9F74-5B386D2676B4}" srcOrd="2" destOrd="0" presId="urn:microsoft.com/office/officeart/2009/layout/CircleArrowProcess"/>
    <dgm:cxn modelId="{93EC256D-01A4-4E7A-A82D-1448257C7ED9}" type="presParOf" srcId="{9B8B16A9-07A5-4128-9F74-5B386D2676B4}" destId="{38829222-B327-4486-813A-919507FCD6DA}" srcOrd="0" destOrd="0" presId="urn:microsoft.com/office/officeart/2009/layout/CircleArrowProcess"/>
    <dgm:cxn modelId="{F28079E3-B7F7-4BA1-AAEA-64066EE2C59A}" type="presParOf" srcId="{D011DF5F-7F50-42E1-87AC-BD6F68D10EB8}" destId="{AF43F85C-F279-4E13-8484-1A22CA836BDA}" srcOrd="3" destOrd="0" presId="urn:microsoft.com/office/officeart/2009/layout/CircleArrowProcess"/>
    <dgm:cxn modelId="{B0D7885C-5319-4730-8169-45A722B8F70D}" type="presParOf" srcId="{D011DF5F-7F50-42E1-87AC-BD6F68D10EB8}" destId="{3043560D-31AF-463D-8AD9-63183440E752}" srcOrd="4" destOrd="0" presId="urn:microsoft.com/office/officeart/2009/layout/CircleArrowProcess"/>
    <dgm:cxn modelId="{6FE23D00-08F2-4ED0-9AE2-009EC6477A92}" type="presParOf" srcId="{3043560D-31AF-463D-8AD9-63183440E752}" destId="{16C75A07-C956-4AE2-83E4-408CEBA2D474}" srcOrd="0" destOrd="0" presId="urn:microsoft.com/office/officeart/2009/layout/CircleArrowProcess"/>
    <dgm:cxn modelId="{B1DADB40-2E3B-4B83-96A3-7FA8ECFCA0E6}" type="presParOf" srcId="{D011DF5F-7F50-42E1-87AC-BD6F68D10EB8}" destId="{B0ED4D03-0C86-4318-B3A3-75F3385F6CC5}" srcOrd="5" destOrd="0" presId="urn:microsoft.com/office/officeart/2009/layout/CircleArrowProcess"/>
    <dgm:cxn modelId="{D2BA20D2-2A82-4B1C-B712-0B9789745FEC}" type="presParOf" srcId="{D011DF5F-7F50-42E1-87AC-BD6F68D10EB8}" destId="{79FE71AD-F918-4C90-93D2-9B3A2F82F531}" srcOrd="6" destOrd="0" presId="urn:microsoft.com/office/officeart/2009/layout/CircleArrowProcess"/>
    <dgm:cxn modelId="{97C1AE0A-AB7A-4EB9-979C-FF1CA70D46C1}" type="presParOf" srcId="{79FE71AD-F918-4C90-93D2-9B3A2F82F531}" destId="{32FFF5AB-8853-436B-B4AE-3D49C459A3E0}" srcOrd="0" destOrd="0" presId="urn:microsoft.com/office/officeart/2009/layout/CircleArrowProcess"/>
    <dgm:cxn modelId="{D604211A-07DE-4D3A-B918-15D75AA71DAC}" type="presParOf" srcId="{D011DF5F-7F50-42E1-87AC-BD6F68D10EB8}" destId="{F0901C68-BF0D-498B-94F1-159D0FFF19B5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73CF0-79AA-4065-9F45-3AB4435A5B5C}">
      <dsp:nvSpPr>
        <dsp:cNvPr id="0" name=""/>
        <dsp:cNvSpPr/>
      </dsp:nvSpPr>
      <dsp:spPr>
        <a:xfrm rot="5400000">
          <a:off x="297522" y="726831"/>
          <a:ext cx="680857" cy="7751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AB8F7-5D01-4931-B502-4FA10C95D885}">
      <dsp:nvSpPr>
        <dsp:cNvPr id="0" name=""/>
        <dsp:cNvSpPr/>
      </dsp:nvSpPr>
      <dsp:spPr>
        <a:xfrm>
          <a:off x="117137" y="-27912"/>
          <a:ext cx="1146162" cy="80227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Data</a:t>
          </a:r>
          <a:endParaRPr lang="zh-CN" altLang="en-US" sz="1600" kern="1200" dirty="0"/>
        </a:p>
      </dsp:txBody>
      <dsp:txXfrm>
        <a:off x="156308" y="11259"/>
        <a:ext cx="1067820" cy="723934"/>
      </dsp:txXfrm>
    </dsp:sp>
    <dsp:sp modelId="{13735235-692E-4CB1-95AE-3F3B8E9AB217}">
      <dsp:nvSpPr>
        <dsp:cNvPr id="0" name=""/>
        <dsp:cNvSpPr/>
      </dsp:nvSpPr>
      <dsp:spPr>
        <a:xfrm>
          <a:off x="1263299" y="48602"/>
          <a:ext cx="833609" cy="648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26AD94-F6E1-4279-BF7E-D8E942711B2B}">
      <dsp:nvSpPr>
        <dsp:cNvPr id="0" name=""/>
        <dsp:cNvSpPr/>
      </dsp:nvSpPr>
      <dsp:spPr>
        <a:xfrm rot="5400000">
          <a:off x="1247813" y="1628052"/>
          <a:ext cx="680857" cy="7751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B8785-7241-4482-B908-E7AC58F5CCC4}">
      <dsp:nvSpPr>
        <dsp:cNvPr id="0" name=""/>
        <dsp:cNvSpPr/>
      </dsp:nvSpPr>
      <dsp:spPr>
        <a:xfrm>
          <a:off x="1067427" y="873309"/>
          <a:ext cx="1146162" cy="80227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Features</a:t>
          </a:r>
          <a:endParaRPr lang="zh-CN" altLang="en-US" sz="1600" kern="1200" dirty="0"/>
        </a:p>
      </dsp:txBody>
      <dsp:txXfrm>
        <a:off x="1106598" y="912480"/>
        <a:ext cx="1067820" cy="723934"/>
      </dsp:txXfrm>
    </dsp:sp>
    <dsp:sp modelId="{B605FDAF-5AE1-4254-9577-1B9300D7630B}">
      <dsp:nvSpPr>
        <dsp:cNvPr id="0" name=""/>
        <dsp:cNvSpPr/>
      </dsp:nvSpPr>
      <dsp:spPr>
        <a:xfrm>
          <a:off x="2213590" y="949824"/>
          <a:ext cx="833609" cy="648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2F19A9-8372-4095-BC32-D1228CA446B6}">
      <dsp:nvSpPr>
        <dsp:cNvPr id="0" name=""/>
        <dsp:cNvSpPr/>
      </dsp:nvSpPr>
      <dsp:spPr>
        <a:xfrm rot="5400000">
          <a:off x="2198104" y="2529274"/>
          <a:ext cx="680857" cy="7751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74ABF-748C-44D4-A548-27542FF89C75}">
      <dsp:nvSpPr>
        <dsp:cNvPr id="0" name=""/>
        <dsp:cNvSpPr/>
      </dsp:nvSpPr>
      <dsp:spPr>
        <a:xfrm>
          <a:off x="2017718" y="1774530"/>
          <a:ext cx="1146162" cy="80227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Models</a:t>
          </a:r>
          <a:endParaRPr lang="zh-CN" altLang="en-US" sz="1600" kern="1200" dirty="0"/>
        </a:p>
      </dsp:txBody>
      <dsp:txXfrm>
        <a:off x="2056889" y="1813701"/>
        <a:ext cx="1067820" cy="723934"/>
      </dsp:txXfrm>
    </dsp:sp>
    <dsp:sp modelId="{F6950984-7862-4CC5-9126-CEA89B31F127}">
      <dsp:nvSpPr>
        <dsp:cNvPr id="0" name=""/>
        <dsp:cNvSpPr/>
      </dsp:nvSpPr>
      <dsp:spPr>
        <a:xfrm>
          <a:off x="3163881" y="1851045"/>
          <a:ext cx="833609" cy="648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E1270-C537-440D-B747-6997C91026F6}">
      <dsp:nvSpPr>
        <dsp:cNvPr id="0" name=""/>
        <dsp:cNvSpPr/>
      </dsp:nvSpPr>
      <dsp:spPr>
        <a:xfrm rot="5400000">
          <a:off x="3148395" y="3430496"/>
          <a:ext cx="680857" cy="7751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2EA0F-699E-458F-B90C-41E5532D4992}">
      <dsp:nvSpPr>
        <dsp:cNvPr id="0" name=""/>
        <dsp:cNvSpPr/>
      </dsp:nvSpPr>
      <dsp:spPr>
        <a:xfrm>
          <a:off x="2968009" y="2675752"/>
          <a:ext cx="1146162" cy="80227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/>
            <a:t>Forecasts</a:t>
          </a:r>
          <a:endParaRPr lang="zh-CN" altLang="en-US" sz="1600" kern="1200" dirty="0"/>
        </a:p>
      </dsp:txBody>
      <dsp:txXfrm>
        <a:off x="3007180" y="2714923"/>
        <a:ext cx="1067820" cy="723934"/>
      </dsp:txXfrm>
    </dsp:sp>
    <dsp:sp modelId="{939DC264-720F-48AD-8277-BA0C5FF35AB0}">
      <dsp:nvSpPr>
        <dsp:cNvPr id="0" name=""/>
        <dsp:cNvSpPr/>
      </dsp:nvSpPr>
      <dsp:spPr>
        <a:xfrm>
          <a:off x="4114172" y="2752267"/>
          <a:ext cx="833609" cy="648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C4A5C7-472D-48F6-83F3-6BA024D3E321}">
      <dsp:nvSpPr>
        <dsp:cNvPr id="0" name=""/>
        <dsp:cNvSpPr/>
      </dsp:nvSpPr>
      <dsp:spPr>
        <a:xfrm>
          <a:off x="3918300" y="3576973"/>
          <a:ext cx="1146162" cy="80227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Evaluation</a:t>
          </a:r>
          <a:endParaRPr lang="zh-CN" altLang="en-US" sz="1600" kern="1200" dirty="0"/>
        </a:p>
      </dsp:txBody>
      <dsp:txXfrm>
        <a:off x="3957471" y="3616144"/>
        <a:ext cx="1067820" cy="723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BF91D-440A-49C1-8D75-46D60BA50822}">
      <dsp:nvSpPr>
        <dsp:cNvPr id="0" name=""/>
        <dsp:cNvSpPr/>
      </dsp:nvSpPr>
      <dsp:spPr>
        <a:xfrm>
          <a:off x="0" y="1082688"/>
          <a:ext cx="10515600" cy="1443584"/>
        </a:xfrm>
        <a:prstGeom prst="notched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55B37-8B48-4EFB-987D-477544855E40}">
      <dsp:nvSpPr>
        <dsp:cNvPr id="0" name=""/>
        <dsp:cNvSpPr/>
      </dsp:nvSpPr>
      <dsp:spPr>
        <a:xfrm>
          <a:off x="808" y="0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Price</a:t>
          </a:r>
          <a:endParaRPr lang="zh-CN" altLang="en-US" sz="1900" kern="1200" dirty="0"/>
        </a:p>
      </dsp:txBody>
      <dsp:txXfrm>
        <a:off x="808" y="0"/>
        <a:ext cx="1296222" cy="1443584"/>
      </dsp:txXfrm>
    </dsp:sp>
    <dsp:sp modelId="{882436B5-800E-405E-98FE-9C51C86EB96F}">
      <dsp:nvSpPr>
        <dsp:cNvPr id="0" name=""/>
        <dsp:cNvSpPr/>
      </dsp:nvSpPr>
      <dsp:spPr>
        <a:xfrm>
          <a:off x="468471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444FB-5331-43C3-B492-053BF5B9F7E9}">
      <dsp:nvSpPr>
        <dsp:cNvPr id="0" name=""/>
        <dsp:cNvSpPr/>
      </dsp:nvSpPr>
      <dsp:spPr>
        <a:xfrm>
          <a:off x="1361842" y="2165377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Indicators</a:t>
          </a:r>
          <a:endParaRPr lang="zh-CN" altLang="en-US" sz="1900" kern="1200" dirty="0"/>
        </a:p>
      </dsp:txBody>
      <dsp:txXfrm>
        <a:off x="1361842" y="2165377"/>
        <a:ext cx="1296222" cy="1443584"/>
      </dsp:txXfrm>
    </dsp:sp>
    <dsp:sp modelId="{15C0A00E-D396-4D57-A53D-3B2209999144}">
      <dsp:nvSpPr>
        <dsp:cNvPr id="0" name=""/>
        <dsp:cNvSpPr/>
      </dsp:nvSpPr>
      <dsp:spPr>
        <a:xfrm>
          <a:off x="1829505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E712D-2E8C-4523-A235-BBBA252E5794}">
      <dsp:nvSpPr>
        <dsp:cNvPr id="0" name=""/>
        <dsp:cNvSpPr/>
      </dsp:nvSpPr>
      <dsp:spPr>
        <a:xfrm>
          <a:off x="2722875" y="0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Volatility</a:t>
          </a:r>
          <a:endParaRPr lang="zh-CN" altLang="en-US" sz="1900" kern="1200" dirty="0"/>
        </a:p>
      </dsp:txBody>
      <dsp:txXfrm>
        <a:off x="2722875" y="0"/>
        <a:ext cx="1296222" cy="1443584"/>
      </dsp:txXfrm>
    </dsp:sp>
    <dsp:sp modelId="{B9F80B3E-8451-4F12-8A0C-E07341C7DB5E}">
      <dsp:nvSpPr>
        <dsp:cNvPr id="0" name=""/>
        <dsp:cNvSpPr/>
      </dsp:nvSpPr>
      <dsp:spPr>
        <a:xfrm>
          <a:off x="3190538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1FCE6-4AEA-455E-89E5-AB77BC4D6776}">
      <dsp:nvSpPr>
        <dsp:cNvPr id="0" name=""/>
        <dsp:cNvSpPr/>
      </dsp:nvSpPr>
      <dsp:spPr>
        <a:xfrm>
          <a:off x="4083908" y="2165377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Lags</a:t>
          </a:r>
          <a:endParaRPr lang="zh-CN" altLang="en-US" sz="1900" kern="1200" dirty="0"/>
        </a:p>
      </dsp:txBody>
      <dsp:txXfrm>
        <a:off x="4083908" y="2165377"/>
        <a:ext cx="1296222" cy="1443584"/>
      </dsp:txXfrm>
    </dsp:sp>
    <dsp:sp modelId="{C58FB4DE-F43A-453C-8117-A7870F3E6B7F}">
      <dsp:nvSpPr>
        <dsp:cNvPr id="0" name=""/>
        <dsp:cNvSpPr/>
      </dsp:nvSpPr>
      <dsp:spPr>
        <a:xfrm>
          <a:off x="4551571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64F2C-742B-480F-B650-869C53EDF0DD}">
      <dsp:nvSpPr>
        <dsp:cNvPr id="0" name=""/>
        <dsp:cNvSpPr/>
      </dsp:nvSpPr>
      <dsp:spPr>
        <a:xfrm>
          <a:off x="5444942" y="0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Macro</a:t>
          </a:r>
          <a:endParaRPr lang="zh-CN" altLang="en-US" sz="1900" kern="1200" dirty="0"/>
        </a:p>
      </dsp:txBody>
      <dsp:txXfrm>
        <a:off x="5444942" y="0"/>
        <a:ext cx="1296222" cy="1443584"/>
      </dsp:txXfrm>
    </dsp:sp>
    <dsp:sp modelId="{07DB3892-C582-4228-8D17-B3B37BEC29FF}">
      <dsp:nvSpPr>
        <dsp:cNvPr id="0" name=""/>
        <dsp:cNvSpPr/>
      </dsp:nvSpPr>
      <dsp:spPr>
        <a:xfrm>
          <a:off x="5912605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B9F34-B3A7-4EC0-A4C3-6EC312F8226C}">
      <dsp:nvSpPr>
        <dsp:cNvPr id="0" name=""/>
        <dsp:cNvSpPr/>
      </dsp:nvSpPr>
      <dsp:spPr>
        <a:xfrm>
          <a:off x="6805975" y="2165377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Cross-Asset</a:t>
          </a:r>
          <a:endParaRPr lang="zh-CN" altLang="en-US" sz="1900" kern="1200" dirty="0"/>
        </a:p>
      </dsp:txBody>
      <dsp:txXfrm>
        <a:off x="6805975" y="2165377"/>
        <a:ext cx="1296222" cy="1443584"/>
      </dsp:txXfrm>
    </dsp:sp>
    <dsp:sp modelId="{DE33B5D5-F2B0-494B-833F-82A1C91665B9}">
      <dsp:nvSpPr>
        <dsp:cNvPr id="0" name=""/>
        <dsp:cNvSpPr/>
      </dsp:nvSpPr>
      <dsp:spPr>
        <a:xfrm>
          <a:off x="7273638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3DAA6-5F44-48CD-92A5-0FDB55275FD4}">
      <dsp:nvSpPr>
        <dsp:cNvPr id="0" name=""/>
        <dsp:cNvSpPr/>
      </dsp:nvSpPr>
      <dsp:spPr>
        <a:xfrm>
          <a:off x="8128096" y="0"/>
          <a:ext cx="1296222" cy="1443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Final Feature Set</a:t>
          </a:r>
          <a:endParaRPr lang="zh-CN" altLang="en-US" sz="1900" kern="1200" dirty="0"/>
        </a:p>
      </dsp:txBody>
      <dsp:txXfrm>
        <a:off x="8128096" y="0"/>
        <a:ext cx="1296222" cy="1443584"/>
      </dsp:txXfrm>
    </dsp:sp>
    <dsp:sp modelId="{AFA1D2F5-8065-4ED9-A23E-EE2107F8EEA4}">
      <dsp:nvSpPr>
        <dsp:cNvPr id="0" name=""/>
        <dsp:cNvSpPr/>
      </dsp:nvSpPr>
      <dsp:spPr>
        <a:xfrm>
          <a:off x="8634672" y="1624032"/>
          <a:ext cx="360896" cy="3608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5DEBD-7390-4FB5-B4EB-C892D24AFD58}">
      <dsp:nvSpPr>
        <dsp:cNvPr id="0" name=""/>
        <dsp:cNvSpPr/>
      </dsp:nvSpPr>
      <dsp:spPr>
        <a:xfrm rot="5400000">
          <a:off x="301404" y="808635"/>
          <a:ext cx="642414" cy="7313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16B9FB-28DD-4AF8-9976-D28F50A24B4B}">
      <dsp:nvSpPr>
        <dsp:cNvPr id="0" name=""/>
        <dsp:cNvSpPr/>
      </dsp:nvSpPr>
      <dsp:spPr>
        <a:xfrm>
          <a:off x="370" y="96505"/>
          <a:ext cx="1343115" cy="756978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Features</a:t>
          </a:r>
          <a:endParaRPr lang="zh-CN" altLang="en-US" sz="1400" kern="1200" dirty="0"/>
        </a:p>
      </dsp:txBody>
      <dsp:txXfrm>
        <a:off x="37329" y="133464"/>
        <a:ext cx="1269197" cy="683060"/>
      </dsp:txXfrm>
    </dsp:sp>
    <dsp:sp modelId="{D2B10329-B322-4646-84DF-7767F6D71563}">
      <dsp:nvSpPr>
        <dsp:cNvPr id="0" name=""/>
        <dsp:cNvSpPr/>
      </dsp:nvSpPr>
      <dsp:spPr>
        <a:xfrm>
          <a:off x="1212652" y="168700"/>
          <a:ext cx="786542" cy="611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5C0F10-3BA0-4F74-8932-F41E1C7C87B8}">
      <dsp:nvSpPr>
        <dsp:cNvPr id="0" name=""/>
        <dsp:cNvSpPr/>
      </dsp:nvSpPr>
      <dsp:spPr>
        <a:xfrm rot="5400000">
          <a:off x="1260840" y="1658972"/>
          <a:ext cx="642414" cy="7313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7E64F-BC9D-4802-AAFF-BFA287ADD583}">
      <dsp:nvSpPr>
        <dsp:cNvPr id="0" name=""/>
        <dsp:cNvSpPr/>
      </dsp:nvSpPr>
      <dsp:spPr>
        <a:xfrm>
          <a:off x="959806" y="946842"/>
          <a:ext cx="1343115" cy="756978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Preprocessing</a:t>
          </a:r>
          <a:endParaRPr lang="zh-CN" altLang="en-US" sz="1400" kern="1200" dirty="0"/>
        </a:p>
      </dsp:txBody>
      <dsp:txXfrm>
        <a:off x="996765" y="983801"/>
        <a:ext cx="1269197" cy="683060"/>
      </dsp:txXfrm>
    </dsp:sp>
    <dsp:sp modelId="{394EC9ED-1B0C-4126-9288-7D3E496F55F6}">
      <dsp:nvSpPr>
        <dsp:cNvPr id="0" name=""/>
        <dsp:cNvSpPr/>
      </dsp:nvSpPr>
      <dsp:spPr>
        <a:xfrm>
          <a:off x="2172088" y="1019037"/>
          <a:ext cx="786542" cy="611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514CC-DF9C-4178-8140-D7BEEA683BD9}">
      <dsp:nvSpPr>
        <dsp:cNvPr id="0" name=""/>
        <dsp:cNvSpPr/>
      </dsp:nvSpPr>
      <dsp:spPr>
        <a:xfrm rot="5400000">
          <a:off x="2220276" y="2509309"/>
          <a:ext cx="642414" cy="7313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8CE7D-3F7C-4993-B4D8-27929BBF820B}">
      <dsp:nvSpPr>
        <dsp:cNvPr id="0" name=""/>
        <dsp:cNvSpPr/>
      </dsp:nvSpPr>
      <dsp:spPr>
        <a:xfrm>
          <a:off x="1919242" y="1797179"/>
          <a:ext cx="1343115" cy="756978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Models (SARIMAX, RF, LSTM, GBM)</a:t>
          </a:r>
          <a:endParaRPr lang="zh-CN" altLang="en-US" sz="1400" kern="1200" dirty="0"/>
        </a:p>
      </dsp:txBody>
      <dsp:txXfrm>
        <a:off x="1956201" y="1834138"/>
        <a:ext cx="1269197" cy="683060"/>
      </dsp:txXfrm>
    </dsp:sp>
    <dsp:sp modelId="{7C64B0F1-700A-4974-BD7C-64F86464DC28}">
      <dsp:nvSpPr>
        <dsp:cNvPr id="0" name=""/>
        <dsp:cNvSpPr/>
      </dsp:nvSpPr>
      <dsp:spPr>
        <a:xfrm>
          <a:off x="3131524" y="1869374"/>
          <a:ext cx="786542" cy="611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DB612-DA68-46F8-B03B-12A8044A0460}">
      <dsp:nvSpPr>
        <dsp:cNvPr id="0" name=""/>
        <dsp:cNvSpPr/>
      </dsp:nvSpPr>
      <dsp:spPr>
        <a:xfrm rot="5400000">
          <a:off x="3179712" y="3359646"/>
          <a:ext cx="642414" cy="7313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50CE4-9D5D-49C3-98E1-D7A268590207}">
      <dsp:nvSpPr>
        <dsp:cNvPr id="0" name=""/>
        <dsp:cNvSpPr/>
      </dsp:nvSpPr>
      <dsp:spPr>
        <a:xfrm>
          <a:off x="2878677" y="2647516"/>
          <a:ext cx="1343115" cy="756978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Ensemble</a:t>
          </a:r>
          <a:endParaRPr lang="zh-CN" altLang="en-US" sz="1400" kern="1200" dirty="0"/>
        </a:p>
      </dsp:txBody>
      <dsp:txXfrm>
        <a:off x="2915636" y="2684475"/>
        <a:ext cx="1269197" cy="683060"/>
      </dsp:txXfrm>
    </dsp:sp>
    <dsp:sp modelId="{A78CA49B-D550-42E2-BC3C-5741E85CB05B}">
      <dsp:nvSpPr>
        <dsp:cNvPr id="0" name=""/>
        <dsp:cNvSpPr/>
      </dsp:nvSpPr>
      <dsp:spPr>
        <a:xfrm>
          <a:off x="4090960" y="2719711"/>
          <a:ext cx="786542" cy="611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32B2C-AC79-44A1-91C3-665908D39D07}">
      <dsp:nvSpPr>
        <dsp:cNvPr id="0" name=""/>
        <dsp:cNvSpPr/>
      </dsp:nvSpPr>
      <dsp:spPr>
        <a:xfrm>
          <a:off x="3838113" y="3497853"/>
          <a:ext cx="1343115" cy="756978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Forecasts</a:t>
          </a:r>
          <a:endParaRPr lang="zh-CN" altLang="en-US" sz="1400" kern="1200" dirty="0"/>
        </a:p>
      </dsp:txBody>
      <dsp:txXfrm>
        <a:off x="3875072" y="3534812"/>
        <a:ext cx="1269197" cy="6830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8D1B1-42E8-47AD-88DA-090C130A8105}">
      <dsp:nvSpPr>
        <dsp:cNvPr id="0" name=""/>
        <dsp:cNvSpPr/>
      </dsp:nvSpPr>
      <dsp:spPr>
        <a:xfrm>
          <a:off x="1998342" y="0"/>
          <a:ext cx="1640722" cy="164088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80CA1-4151-4F34-82D1-E5BEDCC69309}">
      <dsp:nvSpPr>
        <dsp:cNvPr id="0" name=""/>
        <dsp:cNvSpPr/>
      </dsp:nvSpPr>
      <dsp:spPr>
        <a:xfrm>
          <a:off x="2360587" y="593957"/>
          <a:ext cx="915616" cy="45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/>
            <a:t>Forecast</a:t>
          </a:r>
          <a:endParaRPr lang="zh-CN" altLang="en-US" sz="1400" kern="1200"/>
        </a:p>
      </dsp:txBody>
      <dsp:txXfrm>
        <a:off x="2360587" y="593957"/>
        <a:ext cx="915616" cy="457760"/>
      </dsp:txXfrm>
    </dsp:sp>
    <dsp:sp modelId="{38829222-B327-4486-813A-919507FCD6DA}">
      <dsp:nvSpPr>
        <dsp:cNvPr id="0" name=""/>
        <dsp:cNvSpPr/>
      </dsp:nvSpPr>
      <dsp:spPr>
        <a:xfrm>
          <a:off x="1542534" y="942934"/>
          <a:ext cx="1640722" cy="164088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F85C-F279-4E13-8484-1A22CA836BDA}">
      <dsp:nvSpPr>
        <dsp:cNvPr id="0" name=""/>
        <dsp:cNvSpPr/>
      </dsp:nvSpPr>
      <dsp:spPr>
        <a:xfrm>
          <a:off x="1902933" y="1538633"/>
          <a:ext cx="915616" cy="45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Validate</a:t>
          </a:r>
          <a:endParaRPr lang="zh-CN" altLang="en-US" sz="1400" kern="1200" dirty="0"/>
        </a:p>
      </dsp:txBody>
      <dsp:txXfrm>
        <a:off x="1902933" y="1538633"/>
        <a:ext cx="915616" cy="457760"/>
      </dsp:txXfrm>
    </dsp:sp>
    <dsp:sp modelId="{16C75A07-C956-4AE2-83E4-408CEBA2D474}">
      <dsp:nvSpPr>
        <dsp:cNvPr id="0" name=""/>
        <dsp:cNvSpPr/>
      </dsp:nvSpPr>
      <dsp:spPr>
        <a:xfrm>
          <a:off x="1998342" y="1889350"/>
          <a:ext cx="1640722" cy="164088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D4D03-0C86-4318-B3A3-75F3385F6CC5}">
      <dsp:nvSpPr>
        <dsp:cNvPr id="0" name=""/>
        <dsp:cNvSpPr/>
      </dsp:nvSpPr>
      <dsp:spPr>
        <a:xfrm>
          <a:off x="2360587" y="2483308"/>
          <a:ext cx="915616" cy="45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Improve</a:t>
          </a:r>
          <a:endParaRPr lang="zh-CN" altLang="en-US" sz="1400" kern="1200" dirty="0"/>
        </a:p>
      </dsp:txBody>
      <dsp:txXfrm>
        <a:off x="2360587" y="2483308"/>
        <a:ext cx="915616" cy="457760"/>
      </dsp:txXfrm>
    </dsp:sp>
    <dsp:sp modelId="{32FFF5AB-8853-436B-B4AE-3D49C459A3E0}">
      <dsp:nvSpPr>
        <dsp:cNvPr id="0" name=""/>
        <dsp:cNvSpPr/>
      </dsp:nvSpPr>
      <dsp:spPr>
        <a:xfrm>
          <a:off x="1659487" y="2941069"/>
          <a:ext cx="1409587" cy="141026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01C68-BF0D-498B-94F1-159D0FFF19B5}">
      <dsp:nvSpPr>
        <dsp:cNvPr id="0" name=""/>
        <dsp:cNvSpPr/>
      </dsp:nvSpPr>
      <dsp:spPr>
        <a:xfrm>
          <a:off x="1902933" y="3427984"/>
          <a:ext cx="915616" cy="45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New Forecast</a:t>
          </a:r>
          <a:endParaRPr lang="zh-CN" altLang="en-US" sz="1400" kern="1200" dirty="0"/>
        </a:p>
      </dsp:txBody>
      <dsp:txXfrm>
        <a:off x="1902933" y="3427984"/>
        <a:ext cx="915616" cy="457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5D82-E33A-B1B3-0B8F-47B69F681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F8734-DE0F-0733-CF45-860B6AA9F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353E-1789-5F7D-999E-F6126A84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BD28-09A6-8A8B-D775-79CA1FFF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825E5-E2CF-44C7-1865-FD95E13C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50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D518-F356-63CB-F1C9-176FD1E2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FECCF-9676-8830-6978-3B4F99E1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E1A39-6876-7D28-4E65-9CEE6B55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A533F-794E-8F2E-EF76-A0693E66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1370E-B8DE-7721-579B-979156F5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94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83B9-1C9C-5F55-2C87-BFEA3521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DDA5-9EC7-F29E-4C01-C7142E01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C10D4-A46C-31B5-D52D-F6DB826B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B50ED-3AF1-D14E-0DF7-8E020C94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399FB-8658-0054-9AC7-D0A707FE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14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30CB-A01B-C0A4-7853-AEA1AE09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6E82F-7B05-214D-032B-EA00C0D66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0F9A1-82E9-A4B3-242E-F1080A4AB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58A8E-DF59-4EAE-CB3C-610A3CFB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F1C57-2F9B-3B0A-78CC-D8D54542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36E11-2D25-CA41-B084-0E29CFB0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2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0286-BAAA-808E-748F-E9887E5B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4D006-5B86-3AE8-3DEE-6E8D2598E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11D4B-FAC4-3052-BA8B-4393418F2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4A14E3-597E-CB27-A95B-9FDEB6551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C089B-45B4-75B9-AB13-291946513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7A59C-4CF3-F5CF-FDDC-0C946AC8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D5FC0-7E72-4D2B-5A44-0FA93AF3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694A3-E5D2-1E72-359D-CF6EE7CE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69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5BE9-A65A-E697-D32F-D003CDC7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38790-6490-8098-63C2-2DBAA7A8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CF74E-D89E-0CD9-4C33-5581B6ED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B0EC3-8082-18F6-4ABE-6EBA9CB8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6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00C27-44DB-E2B5-D5B1-C6A5E0C0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65192-404D-196D-8FBD-73F94391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C346E-AE47-4619-1ACF-DEA16A0D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8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096B-EC8E-19D7-6BE8-D996ACE0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DB81D-17CB-592F-9A7C-AC5A01A5A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A35C8-171F-8452-4FEF-29A63A92D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FAB7E-8D76-E325-6FBE-14FD8EB6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445A1-CEEE-FC6C-AC24-BDBA179E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7E06F-D47B-1697-5EEA-07199039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EE2E-77EC-FBB9-9E2D-1730FD8A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D4C82-F9AB-724E-218E-25061C87E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1708E-A1B7-ACFD-3888-FF1E3769F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E9086-9984-361C-7392-EF94EC2C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E5A5D-85D2-61DA-A1F2-91A76EC5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C977D-B421-A910-C2B4-BC9FE87E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24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381E-9DEF-7660-7261-C4AD7AD7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7DE27-937E-C095-3AB5-403AF491E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608B-7DA9-D581-73DC-C73B0EB1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7A088-82FD-95A7-8C83-4BF3F85D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2A5A0-0445-4401-1780-E7D405DA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38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22C63-A1F9-F1D7-BF7F-E3343B4D3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D2958-1BC0-15DA-F57C-77D99BE4D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837CC-9ADB-BF52-4A3F-5AC3876C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A2210-02CE-C9DD-B596-205319D54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6D77C-A5EA-8888-7F5A-67B22002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7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1E59-1A51-570E-BEC8-9DE6C157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19EF0-C2DE-91F0-3C69-87EEBC0C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044F8-99EA-BE51-005E-26DDBB430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5669E-740E-40C8-ABBD-2F2F1B74F48E}" type="datetimeFigureOut">
              <a:rPr lang="zh-CN" altLang="en-US" smtClean="0"/>
              <a:t>2025/9/13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7C3CD-B9F5-04DA-AA6F-6A630A0F3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377B-483B-D589-2973-988C14D41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A1C1D-3E57-43B7-AE59-7171D1FBB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8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3516-D554-14B7-E8C6-682F9DBA0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1795"/>
            <a:ext cx="9144000" cy="1534167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Task 1000 – Predictive Analytics: Multi-Horizon Forecasting</a:t>
            </a:r>
            <a:endParaRPr lang="zh-CN" alt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01AC4-8FC0-4231-C60C-FE5FD9518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602039"/>
            <a:ext cx="5791200" cy="697588"/>
          </a:xfrm>
        </p:spPr>
        <p:txBody>
          <a:bodyPr anchor="ctr">
            <a:normAutofit fontScale="92500"/>
          </a:bodyPr>
          <a:lstStyle/>
          <a:p>
            <a:r>
              <a:rPr lang="en-IN" altLang="zh-CN" sz="3200" dirty="0"/>
              <a:t>Tesla, Google, Bitcoin, Ethereum</a:t>
            </a:r>
            <a:endParaRPr lang="zh-CN" altLang="en-US" sz="32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2C9DBA-B747-FBEE-8CA9-965E875E3212}"/>
              </a:ext>
            </a:extLst>
          </p:cNvPr>
          <p:cNvSpPr txBox="1">
            <a:spLocks/>
          </p:cNvSpPr>
          <p:nvPr/>
        </p:nvSpPr>
        <p:spPr>
          <a:xfrm>
            <a:off x="4965970" y="5489422"/>
            <a:ext cx="2260060" cy="473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err="1"/>
              <a:t>Yude</a:t>
            </a:r>
            <a:r>
              <a:rPr lang="en-US" altLang="zh-CN" sz="2000" dirty="0"/>
              <a:t> Li   2025-9-6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608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242B-E768-B198-4F3D-7F1A77AA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E1AE8-203E-E7C8-233E-26B6591333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altLang="zh-CN" dirty="0"/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Feature Engineering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 err="1"/>
              <a:t>Modeling</a:t>
            </a:r>
            <a:r>
              <a:rPr lang="en-IN" altLang="zh-CN" dirty="0"/>
              <a:t> Approach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A96BB-2D96-D043-2143-1898387E3E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/>
              <a:t>Model Evaluation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Forecast Results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Interpretation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/>
              <a:t>Future Evaluation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507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A23D-0D37-DF15-19BB-3CC46A13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9509-AB59-FABA-4F07-477EC0EC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3F7E-6B26-3E23-C5DE-BBD4117A4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b="1" dirty="0"/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CF93B-3578-9D11-DD23-70E55800A0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78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BDE7-7DA6-FC45-28D1-17935C8B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Overview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2F7CD-5CDC-2607-E8B3-42DC0309B0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Objective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/>
              <a:t>Forecast TSLA, GOOGL, BTC, ETH prices across 7 horizons (30D → 10Y).</a:t>
            </a:r>
          </a:p>
          <a:p>
            <a:r>
              <a:rPr lang="es-ES" altLang="zh-CN" b="1" dirty="0" err="1"/>
              <a:t>Horizons</a:t>
            </a:r>
            <a:r>
              <a:rPr lang="es-ES" altLang="zh-CN" dirty="0"/>
              <a:t>: </a:t>
            </a:r>
          </a:p>
          <a:p>
            <a:pPr lvl="1"/>
            <a:r>
              <a:rPr lang="es-ES" altLang="zh-CN" dirty="0"/>
              <a:t>30D, 3M, 6M, 1Y, 3Y, 5Y, 10Y</a:t>
            </a:r>
          </a:p>
          <a:p>
            <a:r>
              <a:rPr lang="en-IN" altLang="zh-CN" b="1" dirty="0"/>
              <a:t>Approach</a:t>
            </a:r>
            <a:r>
              <a:rPr lang="en-IN" altLang="zh-CN" dirty="0"/>
              <a:t>:</a:t>
            </a:r>
          </a:p>
          <a:p>
            <a:pPr lvl="1"/>
            <a:r>
              <a:rPr lang="en-US" altLang="zh-CN" dirty="0"/>
              <a:t>SARIMAX</a:t>
            </a:r>
          </a:p>
          <a:p>
            <a:pPr lvl="1"/>
            <a:r>
              <a:rPr lang="en-IN" altLang="zh-CN" dirty="0"/>
              <a:t>GBM Monte Carlo</a:t>
            </a:r>
          </a:p>
          <a:p>
            <a:pPr marL="457200" lvl="1" indent="0">
              <a:buNone/>
            </a:pPr>
            <a:endParaRPr lang="en-IN" altLang="zh-C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BC300C-A79D-8451-A408-7EFE8C7C07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11669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833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71BB-4156-9CF8-0243-7B78D24E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AA94-E613-970A-57A1-BCF0714E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8C7C-E46F-806E-B7A5-BC125E44B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b="1" dirty="0"/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BF557-1EA8-2C5C-B603-BBE168946C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09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2911-4235-36E1-ED32-A49C5073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Data Collection: Assets &amp; Macros</a:t>
            </a:r>
            <a:endParaRPr lang="zh-CN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C72B10-6578-8B1A-F747-CD982D27D5B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6317506"/>
              </p:ext>
            </p:extLst>
          </p:nvPr>
        </p:nvGraphicFramePr>
        <p:xfrm>
          <a:off x="661735" y="1574800"/>
          <a:ext cx="543426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6454">
                  <a:extLst>
                    <a:ext uri="{9D8B030D-6E8A-4147-A177-3AD203B41FA5}">
                      <a16:colId xmlns:a16="http://schemas.microsoft.com/office/drawing/2014/main" val="2317784822"/>
                    </a:ext>
                  </a:extLst>
                </a:gridCol>
                <a:gridCol w="3737809">
                  <a:extLst>
                    <a:ext uri="{9D8B030D-6E8A-4147-A177-3AD203B41FA5}">
                      <a16:colId xmlns:a16="http://schemas.microsoft.com/office/drawing/2014/main" val="3665670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altLang="zh-CN" b="1" dirty="0"/>
                        <a:t>Category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b="1" dirty="0"/>
                        <a:t>Ticker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83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Stock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TSLA (Tesla Inc.)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652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Stock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GOOGL (Google)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98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Crypto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/>
                        <a:t>BTC-USD (Bitcoin)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6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Crypto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ETH-USD (Ethereum)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59205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81A53B-450C-1F66-260A-ED0AB3CBBB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24957208"/>
              </p:ext>
            </p:extLst>
          </p:nvPr>
        </p:nvGraphicFramePr>
        <p:xfrm>
          <a:off x="661736" y="3766719"/>
          <a:ext cx="5434264" cy="2597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0463">
                  <a:extLst>
                    <a:ext uri="{9D8B030D-6E8A-4147-A177-3AD203B41FA5}">
                      <a16:colId xmlns:a16="http://schemas.microsoft.com/office/drawing/2014/main" val="577262268"/>
                    </a:ext>
                  </a:extLst>
                </a:gridCol>
                <a:gridCol w="3733801">
                  <a:extLst>
                    <a:ext uri="{9D8B030D-6E8A-4147-A177-3AD203B41FA5}">
                      <a16:colId xmlns:a16="http://schemas.microsoft.com/office/drawing/2014/main" val="1304509150"/>
                    </a:ext>
                  </a:extLst>
                </a:gridCol>
              </a:tblGrid>
              <a:tr h="372826">
                <a:tc>
                  <a:txBody>
                    <a:bodyPr/>
                    <a:lstStyle/>
                    <a:p>
                      <a:pPr algn="ctr"/>
                      <a:r>
                        <a:rPr lang="en-IN" altLang="zh-CN" b="1" dirty="0"/>
                        <a:t>Factor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b="1" dirty="0"/>
                        <a:t>Ticker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94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/>
                        <a:t>^GSPC (S&amp;P 500 Index)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755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NASDAQ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^IXIC (NASDAQ Composite Index)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1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VIX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^VIX (Volatility Index)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965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US10Y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^TNX (10-Year Treasury Yield)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73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DOLLAR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UUP (US Dollar Index ETF)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4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OIL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dirty="0"/>
                        <a:t>CL=F (Crude Oil Futures)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36480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C1BD68-6E7F-D9F7-AC43-8D45F7A3F74E}"/>
              </a:ext>
            </a:extLst>
          </p:cNvPr>
          <p:cNvSpPr txBox="1">
            <a:spLocks/>
          </p:cNvSpPr>
          <p:nvPr/>
        </p:nvSpPr>
        <p:spPr>
          <a:xfrm>
            <a:off x="6348664" y="1574799"/>
            <a:ext cx="5181600" cy="478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Source:</a:t>
            </a:r>
          </a:p>
          <a:p>
            <a:pPr lvl="1"/>
            <a:r>
              <a:rPr lang="en-US" altLang="zh-CN" dirty="0"/>
              <a:t>Yahoo Finance (2015–2025, daily frequency)</a:t>
            </a:r>
          </a:p>
          <a:p>
            <a:r>
              <a:rPr lang="es-ES" altLang="zh-CN" b="1" dirty="0" err="1"/>
              <a:t>Assets</a:t>
            </a:r>
            <a:r>
              <a:rPr lang="es-ES" altLang="zh-CN" b="1" dirty="0"/>
              <a:t>:</a:t>
            </a:r>
            <a:r>
              <a:rPr lang="es-ES" altLang="zh-CN" dirty="0"/>
              <a:t> </a:t>
            </a:r>
          </a:p>
          <a:p>
            <a:pPr lvl="1"/>
            <a:r>
              <a:rPr lang="en-IN" altLang="zh-CN" dirty="0"/>
              <a:t>Key stocks + major cryptocurrencies</a:t>
            </a:r>
            <a:endParaRPr lang="es-ES" altLang="zh-CN" dirty="0"/>
          </a:p>
          <a:p>
            <a:r>
              <a:rPr lang="en-IN" altLang="zh-CN" b="1" dirty="0"/>
              <a:t>Macros:</a:t>
            </a:r>
          </a:p>
          <a:p>
            <a:pPr lvl="1"/>
            <a:r>
              <a:rPr lang="en-US" altLang="zh-CN" dirty="0"/>
              <a:t>Market indices, volatility, interest rates, currency, energy</a:t>
            </a:r>
            <a:endParaRPr lang="en-IN" altLang="zh-CN" b="1" dirty="0"/>
          </a:p>
          <a:p>
            <a:r>
              <a:rPr lang="en-IN" altLang="zh-CN" b="1" dirty="0"/>
              <a:t>Purpose:</a:t>
            </a:r>
          </a:p>
          <a:p>
            <a:pPr lvl="1"/>
            <a:r>
              <a:rPr lang="en-IN" altLang="zh-CN" dirty="0"/>
              <a:t>Provide exogenous variables for forecasting models</a:t>
            </a:r>
            <a:endParaRPr lang="en-IN" altLang="zh-CN" b="1" dirty="0"/>
          </a:p>
        </p:txBody>
      </p:sp>
    </p:spTree>
    <p:extLst>
      <p:ext uri="{BB962C8B-B14F-4D97-AF65-F5344CB8AC3E}">
        <p14:creationId xmlns:p14="http://schemas.microsoft.com/office/powerpoint/2010/main" val="354103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0C1B-EEC6-7F8D-63C6-25CA9CC3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Collection: </a:t>
            </a:r>
            <a:r>
              <a:rPr lang="en-IN" altLang="zh-CN" dirty="0"/>
              <a:t>Prices </a:t>
            </a:r>
            <a:r>
              <a:rPr lang="en-US" altLang="zh-CN" dirty="0"/>
              <a:t>(2015–2025)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009B-E420-11A2-4029-196CD8F3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altLang="zh-CN" dirty="0"/>
              <a:t>Historical Stock Prices</a:t>
            </a:r>
          </a:p>
          <a:p>
            <a:pPr algn="ctr"/>
            <a:r>
              <a:rPr lang="en-US" altLang="zh-CN" dirty="0"/>
              <a:t>(TSLA, GOOGL)</a:t>
            </a:r>
            <a:endParaRPr lang="zh-CN" altLang="en-US" dirty="0"/>
          </a:p>
        </p:txBody>
      </p:sp>
      <p:pic>
        <p:nvPicPr>
          <p:cNvPr id="8" name="Content Placeholder 7" descr="A graph of a stock price&#10;&#10;AI-generated content may be incorrect.">
            <a:extLst>
              <a:ext uri="{FF2B5EF4-FFF2-40B4-BE49-F238E27FC236}">
                <a16:creationId xmlns:a16="http://schemas.microsoft.com/office/drawing/2014/main" id="{D74F9CFB-D77A-ECED-CD7B-4C9C497275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21392"/>
            <a:ext cx="5157787" cy="285195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AA158-CBF1-DE23-DADF-178230487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dirty="0"/>
              <a:t>Historical Crypto Prices</a:t>
            </a:r>
          </a:p>
          <a:p>
            <a:pPr algn="ctr">
              <a:lnSpc>
                <a:spcPct val="100000"/>
              </a:lnSpc>
            </a:pPr>
            <a:r>
              <a:rPr lang="en-US" altLang="zh-CN" dirty="0"/>
              <a:t>(BTC, ETH)</a:t>
            </a:r>
            <a:endParaRPr lang="zh-CN" altLang="en-US" dirty="0"/>
          </a:p>
        </p:txBody>
      </p:sp>
      <p:pic>
        <p:nvPicPr>
          <p:cNvPr id="10" name="Content Placeholder 9" descr="A graph of a price&#10;&#10;AI-generated content may be incorrect.">
            <a:extLst>
              <a:ext uri="{FF2B5EF4-FFF2-40B4-BE49-F238E27FC236}">
                <a16:creationId xmlns:a16="http://schemas.microsoft.com/office/drawing/2014/main" id="{73A432B7-C2BA-51CF-6A9D-6C37F8CBA3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56902"/>
            <a:ext cx="5183188" cy="2780934"/>
          </a:xfrm>
        </p:spPr>
      </p:pic>
    </p:spTree>
    <p:extLst>
      <p:ext uri="{BB962C8B-B14F-4D97-AF65-F5344CB8AC3E}">
        <p14:creationId xmlns:p14="http://schemas.microsoft.com/office/powerpoint/2010/main" val="355738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510A-E642-5545-3CD1-4D150D78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Data Preparation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F5A0A-EA57-9CE9-911A-FD9D4E5CE6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altLang="zh-CN" b="1" dirty="0"/>
              <a:t>Frequency Alignment</a:t>
            </a:r>
            <a:r>
              <a:rPr lang="en-IN" altLang="zh-CN" dirty="0"/>
              <a:t>:</a:t>
            </a:r>
          </a:p>
          <a:p>
            <a:pPr lvl="1"/>
            <a:r>
              <a:rPr lang="en-IN" altLang="zh-CN" dirty="0"/>
              <a:t>S</a:t>
            </a:r>
            <a:r>
              <a:rPr lang="en-US" altLang="zh-CN" dirty="0"/>
              <a:t>tocks</a:t>
            </a:r>
            <a:r>
              <a:rPr lang="en-IN" altLang="zh-CN" dirty="0"/>
              <a:t> → Business day (B)</a:t>
            </a:r>
          </a:p>
          <a:p>
            <a:pPr lvl="1"/>
            <a:r>
              <a:rPr lang="en-IN" altLang="zh-CN" dirty="0"/>
              <a:t>Cryptos → Calendar day (D)</a:t>
            </a:r>
          </a:p>
          <a:p>
            <a:r>
              <a:rPr lang="en-IN" altLang="zh-CN" b="1" dirty="0"/>
              <a:t>Handling Missing Data</a:t>
            </a:r>
            <a:r>
              <a:rPr lang="en-IN" altLang="zh-CN" dirty="0"/>
              <a:t>:</a:t>
            </a:r>
          </a:p>
          <a:p>
            <a:pPr lvl="1"/>
            <a:r>
              <a:rPr lang="en-US" altLang="zh-CN" dirty="0"/>
              <a:t>Forward-fill macro features to align with crypto trading days.</a:t>
            </a:r>
            <a:endParaRPr lang="en-IN" altLang="zh-CN" dirty="0"/>
          </a:p>
          <a:p>
            <a:r>
              <a:rPr lang="en-IN" altLang="zh-CN" b="1" dirty="0"/>
              <a:t>Final Dataset</a:t>
            </a:r>
            <a:r>
              <a:rPr lang="en-IN" altLang="zh-CN" dirty="0"/>
              <a:t>:</a:t>
            </a:r>
          </a:p>
          <a:p>
            <a:pPr lvl="1"/>
            <a:r>
              <a:rPr lang="en-US" altLang="zh-CN" dirty="0"/>
              <a:t>A unified panel of assets + macro factors, daily resolution.</a:t>
            </a:r>
          </a:p>
          <a:p>
            <a:r>
              <a:rPr lang="en-IN" altLang="zh-CN" b="1" dirty="0"/>
              <a:t>Quick Environment Check</a:t>
            </a:r>
            <a:endParaRPr lang="zh-CN" alt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6C76F7-5D65-D40B-C6C4-7DD9DA7B88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7248287"/>
              </p:ext>
            </p:extLst>
          </p:nvPr>
        </p:nvGraphicFramePr>
        <p:xfrm>
          <a:off x="6096000" y="2305508"/>
          <a:ext cx="5812278" cy="2791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713">
                  <a:extLst>
                    <a:ext uri="{9D8B030D-6E8A-4147-A177-3AD203B41FA5}">
                      <a16:colId xmlns:a16="http://schemas.microsoft.com/office/drawing/2014/main" val="1276233714"/>
                    </a:ext>
                  </a:extLst>
                </a:gridCol>
                <a:gridCol w="968713">
                  <a:extLst>
                    <a:ext uri="{9D8B030D-6E8A-4147-A177-3AD203B41FA5}">
                      <a16:colId xmlns:a16="http://schemas.microsoft.com/office/drawing/2014/main" val="2233597675"/>
                    </a:ext>
                  </a:extLst>
                </a:gridCol>
                <a:gridCol w="1258108">
                  <a:extLst>
                    <a:ext uri="{9D8B030D-6E8A-4147-A177-3AD203B41FA5}">
                      <a16:colId xmlns:a16="http://schemas.microsoft.com/office/drawing/2014/main" val="1424756052"/>
                    </a:ext>
                  </a:extLst>
                </a:gridCol>
                <a:gridCol w="1128409">
                  <a:extLst>
                    <a:ext uri="{9D8B030D-6E8A-4147-A177-3AD203B41FA5}">
                      <a16:colId xmlns:a16="http://schemas.microsoft.com/office/drawing/2014/main" val="3940478127"/>
                    </a:ext>
                  </a:extLst>
                </a:gridCol>
                <a:gridCol w="865761">
                  <a:extLst>
                    <a:ext uri="{9D8B030D-6E8A-4147-A177-3AD203B41FA5}">
                      <a16:colId xmlns:a16="http://schemas.microsoft.com/office/drawing/2014/main" val="61430006"/>
                    </a:ext>
                  </a:extLst>
                </a:gridCol>
                <a:gridCol w="622574">
                  <a:extLst>
                    <a:ext uri="{9D8B030D-6E8A-4147-A177-3AD203B41FA5}">
                      <a16:colId xmlns:a16="http://schemas.microsoft.com/office/drawing/2014/main" val="1248851215"/>
                    </a:ext>
                  </a:extLst>
                </a:gridCol>
              </a:tblGrid>
              <a:tr h="697933"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Ticker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TSLA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BTC-USD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^GSPC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^VIX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76662"/>
                  </a:ext>
                </a:extLst>
              </a:tr>
              <a:tr h="697933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2025-09-02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329.36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111200.59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6415.54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31924"/>
                  </a:ext>
                </a:extLst>
              </a:tr>
              <a:tr h="697933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2025-09-03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334.09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111723.21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6448.26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68980"/>
                  </a:ext>
                </a:extLst>
              </a:tr>
              <a:tr h="697933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2025-09-04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338.53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110723.60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6502.08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053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717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DCAA-4A28-699D-98FF-D66199F0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F7E9-F536-C1EF-0DB7-0CD276D0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1E7E-B7C8-FA4A-44C1-24DD1DDAD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b="1" dirty="0"/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C14C6-D03E-9D43-7C33-4A45A3FD1C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09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B332-2D3A-8E9B-0FFF-43BE5CD0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Feature Engineering – Overview</a:t>
            </a:r>
            <a:endParaRPr lang="zh-CN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BD2383-4D81-223E-A339-909FEA552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850692"/>
              </p:ext>
            </p:extLst>
          </p:nvPr>
        </p:nvGraphicFramePr>
        <p:xfrm>
          <a:off x="838200" y="1690688"/>
          <a:ext cx="10515600" cy="3608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34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2474-A916-C212-DCB1-6C1D72B0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Feature Engineering – Indicators &amp; Factors</a:t>
            </a:r>
            <a:endParaRPr lang="zh-CN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43B787-FDE8-DAA0-AA6C-077F87B05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284631"/>
              </p:ext>
            </p:extLst>
          </p:nvPr>
        </p:nvGraphicFramePr>
        <p:xfrm>
          <a:off x="2096459" y="1690688"/>
          <a:ext cx="799908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8531">
                  <a:extLst>
                    <a:ext uri="{9D8B030D-6E8A-4147-A177-3AD203B41FA5}">
                      <a16:colId xmlns:a16="http://schemas.microsoft.com/office/drawing/2014/main" val="1962921981"/>
                    </a:ext>
                  </a:extLst>
                </a:gridCol>
                <a:gridCol w="2364779">
                  <a:extLst>
                    <a:ext uri="{9D8B030D-6E8A-4147-A177-3AD203B41FA5}">
                      <a16:colId xmlns:a16="http://schemas.microsoft.com/office/drawing/2014/main" val="3351532649"/>
                    </a:ext>
                  </a:extLst>
                </a:gridCol>
                <a:gridCol w="3365771">
                  <a:extLst>
                    <a:ext uri="{9D8B030D-6E8A-4147-A177-3AD203B41FA5}">
                      <a16:colId xmlns:a16="http://schemas.microsoft.com/office/drawing/2014/main" val="4077300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Example(s)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4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MA(20), MA(60)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Capture long-term price trend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31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Momentum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RSI(14), MACD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 momentum shifts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0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20-day vol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 market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210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Macro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VIX_ret, Oil_ret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Reflect external market shocks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22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zh-CN" dirty="0"/>
                        <a:t>Cross-Asset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zh-CN" dirty="0" err="1"/>
                        <a:t>BTC_ret</a:t>
                      </a:r>
                      <a:r>
                        <a:rPr lang="en-IN" altLang="zh-CN" dirty="0"/>
                        <a:t>, </a:t>
                      </a:r>
                      <a:r>
                        <a:rPr lang="en-IN" altLang="zh-CN" dirty="0" err="1"/>
                        <a:t>GOOGL_ret</a:t>
                      </a:r>
                      <a:endParaRPr lang="nn-N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zh-CN" dirty="0"/>
                        <a:t>Capture interdependence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630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dirty="0"/>
                        <a:t>lag_ret_5, lag_px_20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Incorporate past dependency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2552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AA305B-71E4-078E-DF40-B3E043F31C03}"/>
              </a:ext>
            </a:extLst>
          </p:cNvPr>
          <p:cNvSpPr txBox="1"/>
          <p:nvPr/>
        </p:nvSpPr>
        <p:spPr>
          <a:xfrm>
            <a:off x="2096459" y="4533089"/>
            <a:ext cx="79990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zh-CN" dirty="0"/>
              <a:t>Technical Indicators: MA(5/20/60), RSI(14), MACD &amp;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Volatility: 20-day rolling annualized log-return volatility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Lags: Price/return lags (1, 5, 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Macro Factors: S&amp;P500, NASDAQ, VIX, US10Y, Dollar, 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Cross-Asset Returns: Incorporating TSLA, GOOGL, BTC, ETH dependencies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06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C51C-FD00-25AC-FEC9-F4D31F72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Technical Indicators — Tesla Example</a:t>
            </a:r>
            <a:endParaRPr lang="zh-CN" altLang="en-US" dirty="0"/>
          </a:p>
        </p:txBody>
      </p:sp>
      <p:pic>
        <p:nvPicPr>
          <p:cNvPr id="4" name="Picture 3" descr="A graph with orange lines&#10;&#10;AI-generated content may be incorrect.">
            <a:extLst>
              <a:ext uri="{FF2B5EF4-FFF2-40B4-BE49-F238E27FC236}">
                <a16:creationId xmlns:a16="http://schemas.microsoft.com/office/drawing/2014/main" id="{D58AD444-666E-984A-F57C-EB847B8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899" y="1419246"/>
            <a:ext cx="4914901" cy="2558258"/>
          </a:xfrm>
          <a:prstGeom prst="rect">
            <a:avLst/>
          </a:prstGeom>
        </p:spPr>
      </p:pic>
      <p:pic>
        <p:nvPicPr>
          <p:cNvPr id="6" name="Picture 5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FEC78036-7226-EE74-8CB8-1B04836FF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898" y="4193709"/>
            <a:ext cx="4914901" cy="2558258"/>
          </a:xfrm>
          <a:prstGeom prst="rect">
            <a:avLst/>
          </a:prstGeom>
        </p:spPr>
      </p:pic>
      <p:pic>
        <p:nvPicPr>
          <p:cNvPr id="8" name="Picture 7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B78B6CBA-AB98-61DA-F12B-F88256281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93" y="1408075"/>
            <a:ext cx="4648409" cy="2558258"/>
          </a:xfrm>
          <a:prstGeom prst="rect">
            <a:avLst/>
          </a:prstGeom>
        </p:spPr>
      </p:pic>
      <p:pic>
        <p:nvPicPr>
          <p:cNvPr id="10" name="Picture 9" descr="A graph with purple lines&#10;&#10;AI-generated content may be incorrect.">
            <a:extLst>
              <a:ext uri="{FF2B5EF4-FFF2-40B4-BE49-F238E27FC236}">
                <a16:creationId xmlns:a16="http://schemas.microsoft.com/office/drawing/2014/main" id="{4F3E989A-3439-8E49-93EE-5E11E89A0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93" y="4193709"/>
            <a:ext cx="4648409" cy="255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61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8CE2-5322-7404-50B4-ADDA5206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Feature Space Visualization &amp; Summary</a:t>
            </a:r>
            <a:endParaRPr lang="zh-CN" altLang="en-US" dirty="0"/>
          </a:p>
        </p:txBody>
      </p:sp>
      <p:pic>
        <p:nvPicPr>
          <p:cNvPr id="7" name="Content Placeholder 6" descr="A group of blue dots&#10;&#10;AI-generated content may be incorrect.">
            <a:extLst>
              <a:ext uri="{FF2B5EF4-FFF2-40B4-BE49-F238E27FC236}">
                <a16:creationId xmlns:a16="http://schemas.microsoft.com/office/drawing/2014/main" id="{2F76646D-E245-40A3-8011-FFD9CBB451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36" y="1703611"/>
            <a:ext cx="5802663" cy="4629222"/>
          </a:xfr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6295B5-9295-9A12-6A49-5E8546B762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0441731"/>
              </p:ext>
            </p:extLst>
          </p:nvPr>
        </p:nvGraphicFramePr>
        <p:xfrm>
          <a:off x="6172203" y="3316374"/>
          <a:ext cx="5753910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189">
                  <a:extLst>
                    <a:ext uri="{9D8B030D-6E8A-4147-A177-3AD203B41FA5}">
                      <a16:colId xmlns:a16="http://schemas.microsoft.com/office/drawing/2014/main" val="666576050"/>
                    </a:ext>
                  </a:extLst>
                </a:gridCol>
                <a:gridCol w="1245140">
                  <a:extLst>
                    <a:ext uri="{9D8B030D-6E8A-4147-A177-3AD203B41FA5}">
                      <a16:colId xmlns:a16="http://schemas.microsoft.com/office/drawing/2014/main" val="2886272521"/>
                    </a:ext>
                  </a:extLst>
                </a:gridCol>
                <a:gridCol w="1322960">
                  <a:extLst>
                    <a:ext uri="{9D8B030D-6E8A-4147-A177-3AD203B41FA5}">
                      <a16:colId xmlns:a16="http://schemas.microsoft.com/office/drawing/2014/main" val="1567480132"/>
                    </a:ext>
                  </a:extLst>
                </a:gridCol>
                <a:gridCol w="894946">
                  <a:extLst>
                    <a:ext uri="{9D8B030D-6E8A-4147-A177-3AD203B41FA5}">
                      <a16:colId xmlns:a16="http://schemas.microsoft.com/office/drawing/2014/main" val="4060348090"/>
                    </a:ext>
                  </a:extLst>
                </a:gridCol>
                <a:gridCol w="1011675">
                  <a:extLst>
                    <a:ext uri="{9D8B030D-6E8A-4147-A177-3AD203B41FA5}">
                      <a16:colId xmlns:a16="http://schemas.microsoft.com/office/drawing/2014/main" val="2802585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Asset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07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2015-03-27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2025-09-04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452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GOOGL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2015-03-27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2025-09-04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19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BTC-USD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3840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2015-03-02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2025-09-04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89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ETH-USD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2018-01-08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2025-09-04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6824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46031B-A938-C998-41CC-3F4EF1BB783C}"/>
              </a:ext>
            </a:extLst>
          </p:cNvPr>
          <p:cNvSpPr txBox="1"/>
          <p:nvPr/>
        </p:nvSpPr>
        <p:spPr>
          <a:xfrm>
            <a:off x="6172203" y="1562048"/>
            <a:ext cx="5753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Reduced ~42 engineered features into 2D for visualization, t-SNE shows clusters in feature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Suggests potential market regimes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Cryptos more dispersed, stocks more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Highlights nonlinear structure not visible in raw features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35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4D230-4341-53B8-233A-F05BDB9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7128-7958-6616-09B3-47371B2C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0240A-C794-9AB2-7389-45B65ED14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b="1" dirty="0" err="1"/>
              <a:t>Modeling</a:t>
            </a:r>
            <a:r>
              <a:rPr lang="en-IN" altLang="zh-CN" b="1" dirty="0"/>
              <a:t> Approach</a:t>
            </a:r>
            <a:endParaRPr lang="zh-CN" alt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E37DB-02E0-C0A4-F214-D56AFA4AEE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04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0478-8A08-4B47-CF30-321ACCD5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 err="1"/>
              <a:t>Modeling</a:t>
            </a:r>
            <a:r>
              <a:rPr lang="en-IN" altLang="zh-CN" dirty="0"/>
              <a:t> Approach – Models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E477-8AC6-6F31-054F-8885805A34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Short-term (30D–6M):</a:t>
            </a:r>
          </a:p>
          <a:p>
            <a:pPr lvl="1"/>
            <a:r>
              <a:rPr lang="en-US" altLang="zh-CN" dirty="0"/>
              <a:t>SARIMAX (with exogenous features), Random Forest, LSTM</a:t>
            </a:r>
          </a:p>
          <a:p>
            <a:r>
              <a:rPr lang="en-US" altLang="zh-CN" b="1" dirty="0"/>
              <a:t>Long-term (1Y–10Y):</a:t>
            </a:r>
          </a:p>
          <a:p>
            <a:pPr lvl="1"/>
            <a:r>
              <a:rPr lang="en-US" altLang="zh-CN" dirty="0"/>
              <a:t>Geometric Brownian Motion (GBM) with GARCH-smoothed volatility</a:t>
            </a:r>
          </a:p>
          <a:p>
            <a:r>
              <a:rPr lang="en-US" altLang="zh-CN" b="1" dirty="0"/>
              <a:t>Volatility modeling:</a:t>
            </a:r>
          </a:p>
          <a:p>
            <a:pPr lvl="1"/>
            <a:r>
              <a:rPr lang="en-US" altLang="zh-CN" dirty="0"/>
              <a:t>GARCH(1,1) with t-distribution, used to refine σ for GBM</a:t>
            </a:r>
          </a:p>
          <a:p>
            <a:r>
              <a:rPr lang="en-US" altLang="zh-CN" b="1" dirty="0"/>
              <a:t>Ensemble:</a:t>
            </a:r>
          </a:p>
          <a:p>
            <a:pPr lvl="1"/>
            <a:r>
              <a:rPr lang="en-US" altLang="zh-CN" dirty="0"/>
              <a:t>Robust median / equal-weight combination for stable forecasts</a:t>
            </a:r>
            <a:endParaRPr lang="zh-CN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EFB7746-A103-3902-3A2E-13B0B0FAA5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738854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094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6089-FA29-56D1-BC71-F2FAA2B5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SARIMAX with Exogenous Features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1748-F3BF-3450-8411-08CB4149C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641949"/>
            <a:ext cx="5181600" cy="4630265"/>
          </a:xfrm>
        </p:spPr>
        <p:txBody>
          <a:bodyPr>
            <a:normAutofit/>
          </a:bodyPr>
          <a:lstStyle/>
          <a:p>
            <a:r>
              <a:rPr lang="en-US" altLang="zh-CN" dirty="0"/>
              <a:t>Exogenous features:</a:t>
            </a:r>
          </a:p>
          <a:p>
            <a:pPr lvl="1"/>
            <a:r>
              <a:rPr lang="en-US" altLang="zh-CN" sz="2000" dirty="0"/>
              <a:t>lag-1 versions of macro factors, cross-asset returns, lagged prices/returns</a:t>
            </a:r>
          </a:p>
          <a:p>
            <a:r>
              <a:rPr lang="en-US" altLang="zh-CN" dirty="0"/>
              <a:t>Preprocessing:</a:t>
            </a:r>
          </a:p>
          <a:p>
            <a:pPr lvl="1"/>
            <a:r>
              <a:rPr lang="en-US" altLang="zh-CN" sz="2000" dirty="0" err="1"/>
              <a:t>StandardScaler</a:t>
            </a:r>
            <a:r>
              <a:rPr lang="en-US" altLang="zh-CN" sz="2000" dirty="0"/>
              <a:t> + 1%/99% clipping (outlier control)</a:t>
            </a:r>
          </a:p>
          <a:p>
            <a:r>
              <a:rPr lang="en-US" altLang="zh-CN" dirty="0"/>
              <a:t>Order selection:</a:t>
            </a:r>
          </a:p>
          <a:p>
            <a:pPr lvl="1"/>
            <a:r>
              <a:rPr lang="en-US" altLang="zh-CN" sz="2000" dirty="0"/>
              <a:t>lowest AIC among (1,1,0), (0,1,1), (1,1,1)</a:t>
            </a:r>
          </a:p>
          <a:p>
            <a:r>
              <a:rPr lang="en-US" altLang="zh-CN" dirty="0"/>
              <a:t>Steps:</a:t>
            </a:r>
          </a:p>
          <a:p>
            <a:pPr lvl="1"/>
            <a:r>
              <a:rPr lang="en-US" altLang="zh-CN" sz="2000" dirty="0"/>
              <a:t>30D ≈ 21 trading steps for stocks, 30 steps for crypto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A5EEB-39B0-0779-6AE0-49AE7536F870}"/>
              </a:ext>
            </a:extLst>
          </p:cNvPr>
          <p:cNvSpPr txBox="1"/>
          <p:nvPr/>
        </p:nvSpPr>
        <p:spPr>
          <a:xfrm>
            <a:off x="6326627" y="4507069"/>
            <a:ext cx="4567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Results (30D, lowest AIC models):</a:t>
            </a:r>
          </a:p>
          <a:p>
            <a:pPr lvl="1"/>
            <a:r>
              <a:rPr lang="en-IN" altLang="zh-CN" dirty="0"/>
              <a:t>TSLA: (1,1,0), AIC = –10347.34</a:t>
            </a:r>
          </a:p>
          <a:p>
            <a:pPr lvl="1"/>
            <a:r>
              <a:rPr lang="en-IN" altLang="zh-CN" dirty="0"/>
              <a:t>GOOGL: (1,1,0), AIC = –14185.35</a:t>
            </a:r>
          </a:p>
          <a:p>
            <a:pPr lvl="1"/>
            <a:r>
              <a:rPr lang="en-IN" altLang="zh-CN" dirty="0"/>
              <a:t>BTC-USD: (1,1,0), AIC = –14760.93</a:t>
            </a:r>
          </a:p>
          <a:p>
            <a:pPr lvl="1"/>
            <a:r>
              <a:rPr lang="en-IN" altLang="zh-CN" dirty="0"/>
              <a:t>ETH-USD: (1,1,0), AIC = –9355.14</a:t>
            </a:r>
            <a:endParaRPr lang="zh-CN" altLang="en-US" dirty="0"/>
          </a:p>
        </p:txBody>
      </p:sp>
      <p:pic>
        <p:nvPicPr>
          <p:cNvPr id="9" name="Content Placeholder 8" descr="A graph with a line and a graph&#10;&#10;AI-generated content may be incorrect.">
            <a:extLst>
              <a:ext uri="{FF2B5EF4-FFF2-40B4-BE49-F238E27FC236}">
                <a16:creationId xmlns:a16="http://schemas.microsoft.com/office/drawing/2014/main" id="{EF38E78F-2B06-36CD-7F89-623A014CB1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41949"/>
            <a:ext cx="5181600" cy="2575034"/>
          </a:xfrm>
        </p:spPr>
      </p:pic>
    </p:spTree>
    <p:extLst>
      <p:ext uri="{BB962C8B-B14F-4D97-AF65-F5344CB8AC3E}">
        <p14:creationId xmlns:p14="http://schemas.microsoft.com/office/powerpoint/2010/main" val="2113919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1C3A-044B-C7B2-02D8-DB7EF018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GBM with GARCH-informed Volatility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36267-39DD-EFA3-0F15-099393408F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3000"/>
              <a:t>Parameters:</a:t>
            </a:r>
          </a:p>
          <a:p>
            <a:pPr lvl="1"/>
            <a:r>
              <a:rPr lang="en-US" altLang="zh-CN" sz="2200"/>
              <a:t>annualized μ and σ estimated from log returns; σ refined by GARCH(1,1) conditional volatility</a:t>
            </a:r>
          </a:p>
          <a:p>
            <a:r>
              <a:rPr lang="en-US" altLang="zh-CN" sz="3000"/>
              <a:t>Robust constraints:</a:t>
            </a:r>
          </a:p>
          <a:p>
            <a:pPr lvl="1"/>
            <a:r>
              <a:rPr lang="en-US" altLang="zh-CN" sz="2200"/>
              <a:t>horizon-dependent caps on μ and σ (e.g., μ ≤ 25% for ≤1Y, ≤7% for 10Y)</a:t>
            </a:r>
          </a:p>
          <a:p>
            <a:r>
              <a:rPr lang="fr-FR" altLang="zh-CN" sz="3000"/>
              <a:t>Simulation:</a:t>
            </a:r>
          </a:p>
          <a:p>
            <a:pPr lvl="1"/>
            <a:r>
              <a:rPr lang="fr-FR" altLang="zh-CN" sz="2200"/>
              <a:t>2000 paths → median, 2.5%, 97.5% quantiles</a:t>
            </a:r>
          </a:p>
          <a:p>
            <a:r>
              <a:rPr lang="fr-FR" altLang="zh-CN" sz="3000"/>
              <a:t>GARCH diagnostics:</a:t>
            </a:r>
          </a:p>
          <a:p>
            <a:pPr lvl="1"/>
            <a:r>
              <a:rPr lang="fr-FR" altLang="zh-CN" sz="2200"/>
              <a:t>persistence (α+β ≈ 1)</a:t>
            </a:r>
          </a:p>
          <a:p>
            <a:pPr lvl="1"/>
            <a:r>
              <a:rPr lang="fr-FR" altLang="zh-CN" sz="2200"/>
              <a:t>t-distribution ν ≈ 3–4</a:t>
            </a:r>
            <a:endParaRPr lang="en-US" altLang="zh-CN" sz="2200"/>
          </a:p>
          <a:p>
            <a:endParaRPr lang="zh-CN" altLang="en-US" dirty="0"/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BF05400-E382-6DA9-36A5-C38FB21FB6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34071"/>
            <a:ext cx="5181600" cy="2567223"/>
          </a:xfrm>
        </p:spPr>
      </p:pic>
      <p:pic>
        <p:nvPicPr>
          <p:cNvPr id="11" name="Picture 10" descr="A graph showing a line of blue lines&#10;&#10;AI-generated content may be incorrect.">
            <a:extLst>
              <a:ext uri="{FF2B5EF4-FFF2-40B4-BE49-F238E27FC236}">
                <a16:creationId xmlns:a16="http://schemas.microsoft.com/office/drawing/2014/main" id="{789E88B6-986F-51A9-89FF-26B1B1EF9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84315"/>
            <a:ext cx="5181600" cy="25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7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30C1-A056-6753-9DB8-F160BE5A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ML Models &amp; Feature Selection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EA3BB-BE0B-5CDD-DB44-589775554A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altLang="zh-CN" sz="3600" b="1" dirty="0"/>
              <a:t>Random Forest (</a:t>
            </a:r>
            <a:r>
              <a:rPr lang="en-IN" altLang="zh-CN" sz="3600" b="1" dirty="0" err="1"/>
              <a:t>eg</a:t>
            </a:r>
            <a:r>
              <a:rPr lang="en-IN" altLang="zh-CN" sz="3600" b="1" dirty="0"/>
              <a:t>: 30D)</a:t>
            </a:r>
          </a:p>
          <a:p>
            <a:pPr lvl="1"/>
            <a:r>
              <a:rPr lang="en-IN" altLang="zh-CN" sz="2900" dirty="0"/>
              <a:t>TSLA:</a:t>
            </a:r>
          </a:p>
          <a:p>
            <a:pPr marL="457200" lvl="1" indent="0">
              <a:buNone/>
            </a:pPr>
            <a:r>
              <a:rPr lang="en-IN" altLang="zh-CN" sz="2500" dirty="0"/>
              <a:t>MAE = 0.234, RMSE = 0.287, Forecast ≈ 351.54</a:t>
            </a:r>
          </a:p>
          <a:p>
            <a:pPr lvl="1"/>
            <a:r>
              <a:rPr lang="en-US" altLang="zh-CN" sz="2900" dirty="0"/>
              <a:t>GOOGL:</a:t>
            </a:r>
          </a:p>
          <a:p>
            <a:pPr marL="457200" lvl="1" indent="0">
              <a:buNone/>
            </a:pPr>
            <a:r>
              <a:rPr lang="en-US" altLang="zh-CN" sz="2600" dirty="0"/>
              <a:t>MAE = 0.137, RMSE = 0.153, Forecast ≈ 255.81</a:t>
            </a:r>
          </a:p>
          <a:p>
            <a:pPr lvl="1"/>
            <a:r>
              <a:rPr lang="en-US" altLang="zh-CN" sz="2900" dirty="0"/>
              <a:t>BTC-USD:</a:t>
            </a:r>
          </a:p>
          <a:p>
            <a:pPr marL="457200" lvl="1" indent="0">
              <a:buNone/>
            </a:pPr>
            <a:r>
              <a:rPr lang="en-US" altLang="zh-CN" sz="2600" dirty="0"/>
              <a:t>MAE = 0.348, RMSE = 0.405, Forecast ≈ 106,572</a:t>
            </a:r>
          </a:p>
          <a:p>
            <a:pPr lvl="1"/>
            <a:r>
              <a:rPr lang="en-US" altLang="zh-CN" sz="2900" dirty="0"/>
              <a:t>ETH-USD:</a:t>
            </a:r>
          </a:p>
          <a:p>
            <a:pPr marL="457200" lvl="1" indent="0">
              <a:buNone/>
            </a:pPr>
            <a:r>
              <a:rPr lang="en-US" altLang="zh-CN" sz="2600" dirty="0"/>
              <a:t>MAE = 0.343, RMSE = 0.410, Forecast ≈ 4,590</a:t>
            </a:r>
            <a:endParaRPr lang="en-IN" altLang="zh-CN" sz="2600" dirty="0"/>
          </a:p>
          <a:p>
            <a:r>
              <a:rPr lang="en-IN" altLang="zh-CN" sz="3600" b="1" dirty="0"/>
              <a:t>LSTM (</a:t>
            </a:r>
            <a:r>
              <a:rPr lang="en-IN" altLang="zh-CN" sz="3600" b="1" dirty="0" err="1"/>
              <a:t>eg</a:t>
            </a:r>
            <a:r>
              <a:rPr lang="en-IN" altLang="zh-CN" sz="3600" b="1" dirty="0"/>
              <a:t>: 30D)</a:t>
            </a:r>
          </a:p>
          <a:p>
            <a:pPr lvl="1"/>
            <a:r>
              <a:rPr lang="nn-NO" altLang="zh-CN" sz="2900" dirty="0"/>
              <a:t>TSLA:</a:t>
            </a:r>
          </a:p>
          <a:p>
            <a:pPr marL="457200" lvl="1" indent="0">
              <a:buNone/>
            </a:pPr>
            <a:r>
              <a:rPr lang="nn-NO" altLang="zh-CN" sz="2500" dirty="0"/>
              <a:t>val_loss = 0.0346, Forecast ≈ 347.19</a:t>
            </a:r>
          </a:p>
          <a:p>
            <a:pPr lvl="1"/>
            <a:r>
              <a:rPr lang="en-US" altLang="zh-CN" sz="2900" dirty="0"/>
              <a:t>GOOGL:</a:t>
            </a:r>
          </a:p>
          <a:p>
            <a:pPr marL="457200" lvl="1" indent="0">
              <a:buNone/>
            </a:pPr>
            <a:r>
              <a:rPr lang="en-US" altLang="zh-CN" sz="2500" dirty="0" err="1"/>
              <a:t>val_loss</a:t>
            </a:r>
            <a:r>
              <a:rPr lang="en-US" altLang="zh-CN" sz="2500" dirty="0"/>
              <a:t> = 0.00581, Forecast ≈ 230.08</a:t>
            </a:r>
          </a:p>
          <a:p>
            <a:pPr lvl="1"/>
            <a:r>
              <a:rPr lang="en-IN" altLang="zh-CN" sz="2900" dirty="0"/>
              <a:t>BTC-USD:</a:t>
            </a:r>
          </a:p>
          <a:p>
            <a:pPr marL="457200" lvl="1" indent="0">
              <a:buNone/>
            </a:pPr>
            <a:r>
              <a:rPr lang="en-IN" altLang="zh-CN" sz="2500" dirty="0" err="1"/>
              <a:t>val_loss</a:t>
            </a:r>
            <a:r>
              <a:rPr lang="en-IN" altLang="zh-CN" sz="2500" dirty="0"/>
              <a:t> = 0.0144, Forecast ≈ 115,144</a:t>
            </a:r>
          </a:p>
          <a:p>
            <a:pPr lvl="1"/>
            <a:r>
              <a:rPr lang="en-US" altLang="zh-CN" sz="2900" dirty="0"/>
              <a:t>ETH-USD:</a:t>
            </a:r>
          </a:p>
          <a:p>
            <a:pPr marL="457200" lvl="1" indent="0">
              <a:buNone/>
            </a:pPr>
            <a:r>
              <a:rPr lang="en-US" altLang="zh-CN" sz="2500" dirty="0" err="1"/>
              <a:t>val_loss</a:t>
            </a:r>
            <a:r>
              <a:rPr lang="en-US" altLang="zh-CN" sz="2500" dirty="0"/>
              <a:t> = 0.0622, Forecast ≈ 4,334</a:t>
            </a:r>
            <a:endParaRPr lang="en-IN" altLang="zh-CN" sz="25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68872D-2846-E1D1-7C8E-B960AC0DD1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573955"/>
            <a:ext cx="4927058" cy="27353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70A52B-EE82-CC5C-7FA3-5514901DE9C2}"/>
              </a:ext>
            </a:extLst>
          </p:cNvPr>
          <p:cNvSpPr txBox="1"/>
          <p:nvPr/>
        </p:nvSpPr>
        <p:spPr>
          <a:xfrm>
            <a:off x="6375670" y="4394798"/>
            <a:ext cx="47235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Top Features (Correlation Ranking, </a:t>
            </a:r>
            <a:r>
              <a:rPr lang="en-US" altLang="zh-CN" b="1" dirty="0" err="1"/>
              <a:t>eg</a:t>
            </a:r>
            <a:r>
              <a:rPr lang="en-US" altLang="zh-CN" b="1" dirty="0"/>
              <a:t>: 30D)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altLang="zh-CN" sz="1600" dirty="0"/>
              <a:t>TSLA:</a:t>
            </a:r>
          </a:p>
          <a:p>
            <a:pPr lvl="1"/>
            <a:r>
              <a:rPr lang="nn-NO" altLang="zh-CN" sz="1400" dirty="0"/>
              <a:t>ma20_lag1, ma20, lag_price_5...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altLang="zh-CN" sz="1600" dirty="0"/>
              <a:t>GOOGL:</a:t>
            </a:r>
          </a:p>
          <a:p>
            <a:pPr lvl="1"/>
            <a:r>
              <a:rPr lang="nn-NO" altLang="zh-CN" sz="1400" dirty="0"/>
              <a:t>rsi14, lag_price_1, ma5...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zh-CN" sz="1600" dirty="0"/>
              <a:t>BTC-USD:</a:t>
            </a:r>
          </a:p>
          <a:p>
            <a:pPr lvl="1"/>
            <a:r>
              <a:rPr lang="it-IT" altLang="zh-CN" sz="1400" dirty="0"/>
              <a:t>ma60_lag1, ma60, lag_price_20...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zh-CN" sz="1600" dirty="0"/>
              <a:t>ETH-USD:</a:t>
            </a:r>
          </a:p>
          <a:p>
            <a:pPr lvl="1"/>
            <a:r>
              <a:rPr lang="it-IT" altLang="zh-CN" sz="1400" dirty="0"/>
              <a:t>lag_price_20, ma20_lag1, ma20...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86549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2E2D-6F71-DF4C-6683-767480BF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E801-614D-B3B3-F36A-45A515D8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ML Models - LSTM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B6CD-6EF0-2BE9-B31A-1F005FC14F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altLang="zh-CN" sz="2200" b="1" dirty="0"/>
              <a:t>LSTM Model Design (30D Example)</a:t>
            </a:r>
          </a:p>
          <a:p>
            <a:pPr lvl="1"/>
            <a:r>
              <a:rPr lang="en-US" altLang="zh-CN" sz="2000" dirty="0"/>
              <a:t>Input sequence:</a:t>
            </a:r>
          </a:p>
          <a:p>
            <a:pPr marL="457200" lvl="1" indent="0">
              <a:buNone/>
            </a:pPr>
            <a:r>
              <a:rPr lang="en-US" altLang="zh-CN" sz="2000" dirty="0"/>
              <a:t>30-day rolling window of daily returns</a:t>
            </a:r>
          </a:p>
          <a:p>
            <a:pPr lvl="1"/>
            <a:r>
              <a:rPr lang="en-US" altLang="zh-CN" sz="2000" dirty="0"/>
              <a:t>Architecture:</a:t>
            </a:r>
          </a:p>
          <a:p>
            <a:pPr marL="457200" lvl="1" indent="0">
              <a:buNone/>
            </a:pPr>
            <a:r>
              <a:rPr lang="en-US" altLang="zh-CN" sz="2000" dirty="0"/>
              <a:t>1 LSTM layer (32 units) + Dense output</a:t>
            </a:r>
          </a:p>
          <a:p>
            <a:pPr lvl="1"/>
            <a:r>
              <a:rPr lang="en-US" altLang="zh-CN" sz="2000" dirty="0"/>
              <a:t>Training setup:</a:t>
            </a:r>
          </a:p>
          <a:p>
            <a:pPr marL="457200" lvl="1" indent="0">
              <a:buNone/>
            </a:pPr>
            <a:r>
              <a:rPr lang="en-US" altLang="zh-CN" sz="2000" dirty="0"/>
              <a:t>Adam optimizer (</a:t>
            </a:r>
            <a:r>
              <a:rPr lang="en-US" altLang="zh-CN" sz="2000" dirty="0" err="1"/>
              <a:t>lr</a:t>
            </a:r>
            <a:r>
              <a:rPr lang="en-US" altLang="zh-CN" sz="2000" dirty="0"/>
              <a:t> = 0.001), batch size = 64, epochs = 60</a:t>
            </a:r>
          </a:p>
          <a:p>
            <a:pPr lvl="1"/>
            <a:r>
              <a:rPr lang="en-US" altLang="zh-CN" sz="2000" dirty="0"/>
              <a:t>Regularization:</a:t>
            </a:r>
          </a:p>
          <a:p>
            <a:pPr marL="457200" lvl="1" indent="0">
              <a:buNone/>
            </a:pPr>
            <a:r>
              <a:rPr lang="en-US" altLang="zh-CN" sz="2000" dirty="0"/>
              <a:t>Early stopping (patience = 6, restore best weights)</a:t>
            </a:r>
          </a:p>
          <a:p>
            <a:pPr lvl="1"/>
            <a:r>
              <a:rPr lang="en-US" altLang="zh-CN" sz="2000" dirty="0"/>
              <a:t>Validation:</a:t>
            </a:r>
          </a:p>
          <a:p>
            <a:pPr marL="457200" lvl="1" indent="0">
              <a:buNone/>
            </a:pPr>
            <a:r>
              <a:rPr lang="en-US" altLang="zh-CN" sz="2000" dirty="0"/>
              <a:t>90/10 time-based split (no shuffle)</a:t>
            </a:r>
          </a:p>
          <a:p>
            <a:pPr lvl="1"/>
            <a:r>
              <a:rPr lang="en-US" altLang="zh-CN" sz="2000" dirty="0"/>
              <a:t>Output:</a:t>
            </a:r>
          </a:p>
          <a:p>
            <a:pPr marL="457200" lvl="1" indent="0">
              <a:buNone/>
            </a:pPr>
            <a:r>
              <a:rPr lang="en-US" altLang="zh-CN" sz="2000" dirty="0"/>
              <a:t>Point forecasts of log-return sum → converted to price</a:t>
            </a:r>
            <a:endParaRPr lang="en-IN" altLang="zh-CN" sz="2000" dirty="0"/>
          </a:p>
        </p:txBody>
      </p:sp>
      <p:pic>
        <p:nvPicPr>
          <p:cNvPr id="11" name="Content Placeholder 10" descr="A graph of a training curve&#10;&#10;AI-generated content may be incorrect.">
            <a:extLst>
              <a:ext uri="{FF2B5EF4-FFF2-40B4-BE49-F238E27FC236}">
                <a16:creationId xmlns:a16="http://schemas.microsoft.com/office/drawing/2014/main" id="{DF2BB867-B651-EDDA-5FF0-F1B0E18918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316" y="1522472"/>
            <a:ext cx="3750013" cy="2478822"/>
          </a:xfrm>
        </p:spPr>
      </p:pic>
      <p:pic>
        <p:nvPicPr>
          <p:cNvPr id="13" name="Picture 1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29D1C974-244E-5B43-BDD7-CDA6D9CE2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316" y="4089737"/>
            <a:ext cx="3750013" cy="24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13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61CE-45A8-F728-B806-80B5D253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 err="1"/>
              <a:t>Ensembling</a:t>
            </a:r>
            <a:r>
              <a:rPr lang="en-IN" altLang="zh-CN" dirty="0"/>
              <a:t> (30D Forecast Examples)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A3E5F-34A3-E54B-480E-70D937DC46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sz="3100" dirty="0"/>
              <a:t>Robust median across SARIMAX, GBM, RF, and LSTM</a:t>
            </a:r>
          </a:p>
          <a:p>
            <a:r>
              <a:rPr lang="en-US" altLang="zh-CN" sz="3100" dirty="0"/>
              <a:t>Reduces model-specific bias and improves stability</a:t>
            </a:r>
          </a:p>
          <a:p>
            <a:r>
              <a:rPr lang="en-IN" altLang="zh-CN" sz="3100" dirty="0"/>
              <a:t>Example results (30D):</a:t>
            </a:r>
          </a:p>
          <a:p>
            <a:pPr lvl="1"/>
            <a:r>
              <a:rPr lang="nn-NO" altLang="zh-CN" sz="2200" dirty="0"/>
              <a:t>TSLA:</a:t>
            </a:r>
          </a:p>
          <a:p>
            <a:pPr marL="457200" lvl="1" indent="0">
              <a:buNone/>
            </a:pPr>
            <a:r>
              <a:rPr lang="nn-NO" altLang="zh-CN" sz="1600" b="1" dirty="0"/>
              <a:t>359.15</a:t>
            </a:r>
            <a:r>
              <a:rPr lang="nn-NO" altLang="zh-CN" sz="1600" dirty="0"/>
              <a:t> (SARIMAX 336.05, RF 351.54, LSTM 347.19)</a:t>
            </a:r>
          </a:p>
          <a:p>
            <a:pPr lvl="1"/>
            <a:r>
              <a:rPr lang="en-IN" altLang="zh-CN" sz="2200" dirty="0"/>
              <a:t>GOOGL:</a:t>
            </a:r>
          </a:p>
          <a:p>
            <a:pPr marL="457200" lvl="1" indent="0">
              <a:buNone/>
            </a:pPr>
            <a:r>
              <a:rPr lang="en-IN" altLang="zh-CN" sz="1600" b="1" dirty="0"/>
              <a:t>237.98</a:t>
            </a:r>
            <a:r>
              <a:rPr lang="en-IN" altLang="zh-CN" sz="1600" dirty="0"/>
              <a:t> (SARIMAX 228.05, RF 255.81, LSTM 230.08)</a:t>
            </a:r>
          </a:p>
          <a:p>
            <a:pPr lvl="1"/>
            <a:r>
              <a:rPr lang="en-US" altLang="zh-CN" sz="2200" dirty="0"/>
              <a:t>BTC-USD:</a:t>
            </a:r>
          </a:p>
          <a:p>
            <a:pPr marL="457200" lvl="1" indent="0">
              <a:buNone/>
            </a:pPr>
            <a:r>
              <a:rPr lang="en-US" altLang="zh-CN" sz="1600" b="1" dirty="0"/>
              <a:t>110,181.25</a:t>
            </a:r>
            <a:r>
              <a:rPr lang="en-US" altLang="zh-CN" sz="1600" dirty="0"/>
              <a:t> (SARIMAX 109,564, RF 106,572, LSTM 115,144)</a:t>
            </a:r>
          </a:p>
          <a:p>
            <a:pPr lvl="1"/>
            <a:r>
              <a:rPr lang="en-IN" altLang="zh-CN" sz="2200" dirty="0"/>
              <a:t>ETH-USD:</a:t>
            </a:r>
          </a:p>
          <a:p>
            <a:pPr marL="457200" lvl="1" indent="0">
              <a:buNone/>
            </a:pPr>
            <a:r>
              <a:rPr lang="en-IN" altLang="zh-CN" sz="1600" b="1" dirty="0"/>
              <a:t>4,410.71</a:t>
            </a:r>
            <a:r>
              <a:rPr lang="en-IN" altLang="zh-CN" sz="1600" dirty="0"/>
              <a:t> (SARIMAX 4,308, RF 4,590, LSTM 4,334)</a:t>
            </a:r>
            <a:endParaRPr lang="zh-CN" altLang="en-US" sz="1600" dirty="0"/>
          </a:p>
        </p:txBody>
      </p:sp>
      <p:pic>
        <p:nvPicPr>
          <p:cNvPr id="6" name="Content Placeholder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F92DDFE7-B821-99B3-6887-BB82B06531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134" y="1583684"/>
            <a:ext cx="4357672" cy="2414384"/>
          </a:xfrm>
        </p:spPr>
      </p:pic>
      <p:pic>
        <p:nvPicPr>
          <p:cNvPr id="8" name="Picture 7" descr="A graph with blue bars&#10;&#10;AI-generated content may be incorrect.">
            <a:extLst>
              <a:ext uri="{FF2B5EF4-FFF2-40B4-BE49-F238E27FC236}">
                <a16:creationId xmlns:a16="http://schemas.microsoft.com/office/drawing/2014/main" id="{FE30CC59-C014-9693-638A-00AD880FC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134" y="4212077"/>
            <a:ext cx="4357672" cy="241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7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4790-BA00-3CB1-2178-ACFF2DFD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Ensemble Forecasting — Robust Median (TSLA 30D Example)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8EBA-7A44-B2FB-1EB0-147E2395D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Why Ensemble:</a:t>
            </a:r>
          </a:p>
          <a:p>
            <a:pPr marL="457200" lvl="1" indent="0">
              <a:buNone/>
            </a:pPr>
            <a:r>
              <a:rPr lang="en-US" altLang="zh-CN" dirty="0"/>
              <a:t>Individual models vary across horizons (SARIMAX better short-term, GBM better long-term).</a:t>
            </a:r>
          </a:p>
          <a:p>
            <a:r>
              <a:rPr lang="en-US" altLang="zh-CN" b="1" dirty="0"/>
              <a:t>Method: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/>
              <a:t>Take the </a:t>
            </a:r>
            <a:r>
              <a:rPr lang="en-US" altLang="zh-CN" b="1" dirty="0"/>
              <a:t>median</a:t>
            </a:r>
            <a:r>
              <a:rPr lang="en-US" altLang="zh-CN" dirty="0"/>
              <a:t> of model forecasts; intervals aggregated by median of bounds.</a:t>
            </a:r>
          </a:p>
          <a:p>
            <a:r>
              <a:rPr lang="en-US" altLang="zh-CN" b="1" dirty="0"/>
              <a:t>Benefit:</a:t>
            </a:r>
          </a:p>
          <a:p>
            <a:pPr marL="457200" lvl="1" indent="0">
              <a:buNone/>
            </a:pPr>
            <a:r>
              <a:rPr lang="en-US" altLang="zh-CN" dirty="0"/>
              <a:t>Stabilizes forecasts, reduces outlier bias, and provides more robust risk bands.</a:t>
            </a:r>
            <a:endParaRPr lang="zh-CN" altLang="en-US" dirty="0"/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8B5C26CE-C01D-4702-21AF-AB22CF4F75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234950"/>
            <a:ext cx="5384258" cy="3532687"/>
          </a:xfrm>
        </p:spPr>
      </p:pic>
    </p:spTree>
    <p:extLst>
      <p:ext uri="{BB962C8B-B14F-4D97-AF65-F5344CB8AC3E}">
        <p14:creationId xmlns:p14="http://schemas.microsoft.com/office/powerpoint/2010/main" val="3807323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1DB8-64A8-BE20-319D-44BC36A9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Multi-Horizon Forecasts (30D → 10Y)</a:t>
            </a:r>
            <a:endParaRPr lang="zh-CN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73D392-5B50-13D7-AC61-1F16D54E6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38329"/>
              </p:ext>
            </p:extLst>
          </p:nvPr>
        </p:nvGraphicFramePr>
        <p:xfrm>
          <a:off x="892512" y="1515591"/>
          <a:ext cx="10406976" cy="26669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872">
                  <a:extLst>
                    <a:ext uri="{9D8B030D-6E8A-4147-A177-3AD203B41FA5}">
                      <a16:colId xmlns:a16="http://schemas.microsoft.com/office/drawing/2014/main" val="1485325455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445329470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1699581321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3700521776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1069951155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2018940752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522365847"/>
                    </a:ext>
                  </a:extLst>
                </a:gridCol>
                <a:gridCol w="1300872">
                  <a:extLst>
                    <a:ext uri="{9D8B030D-6E8A-4147-A177-3AD203B41FA5}">
                      <a16:colId xmlns:a16="http://schemas.microsoft.com/office/drawing/2014/main" val="1231665532"/>
                    </a:ext>
                  </a:extLst>
                </a:gridCol>
              </a:tblGrid>
              <a:tr h="522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Asset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533569"/>
                  </a:ext>
                </a:extLst>
              </a:tr>
              <a:tr h="522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351.72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350.93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350.93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350.93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350.93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350.93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231.18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399373"/>
                  </a:ext>
                </a:extLst>
              </a:tr>
              <a:tr h="522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GOOGL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239.29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246.73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257.26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258.44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279.98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270.53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258.69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272352"/>
                  </a:ext>
                </a:extLst>
              </a:tr>
              <a:tr h="534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BTC-USD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110,308.29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114,621.99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117,754.23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124,938.73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117,765.60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110,308.29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87,325.80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003910"/>
                  </a:ext>
                </a:extLst>
              </a:tr>
              <a:tr h="564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ETH-USD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4,273.63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2,830.82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218978"/>
                  </a:ext>
                </a:extLst>
              </a:tr>
            </a:tbl>
          </a:graphicData>
        </a:graphic>
      </p:graphicFrame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0CFCC224-DB58-0A4F-2A21-A32378CA5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56" y="4280170"/>
            <a:ext cx="10461288" cy="240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30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B255-7E6B-B1E3-152D-9EDBE282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Multi-Horizon Forecasts (30D → 10Y)</a:t>
            </a:r>
            <a:endParaRPr lang="zh-CN" altLang="en-US" dirty="0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CCF32466-7B0B-306D-2D50-559B01E4B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0305"/>
            <a:ext cx="10515600" cy="43273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042EC-263F-A0D4-244E-03298A6B3717}"/>
              </a:ext>
            </a:extLst>
          </p:cNvPr>
          <p:cNvSpPr txBox="1"/>
          <p:nvPr/>
        </p:nvSpPr>
        <p:spPr>
          <a:xfrm>
            <a:off x="1179478" y="1642419"/>
            <a:ext cx="10174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Log scale is applied to compare assets with very different price levels (stocks vs. crypto).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Forecast points show ensemble predictions at multiple horizons.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4587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2C26-DF41-1221-53F9-1D98E687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EC58-9319-C0B8-605C-11627E82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D7C0-5690-A194-F346-10AF2329B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27194-5FC6-C44F-E7A9-F1DB75E4EF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b="1" dirty="0"/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152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E345-7D23-81C0-3847-A87795EF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Evaluation Framework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0D7C8-9E05-3F5C-B981-093BCF1C0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altLang="zh-CN" dirty="0"/>
              <a:t>Data Splits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B8938-4CCE-6EA2-F2F6-2C7132811C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Rolling </a:t>
            </a:r>
            <a:r>
              <a:rPr lang="en-US" altLang="zh-CN" sz="2000" dirty="0" err="1"/>
              <a:t>backtests</a:t>
            </a:r>
            <a:r>
              <a:rPr lang="en-US" altLang="zh-CN" sz="2000" dirty="0"/>
              <a:t> across 7 horizons: 30D, 3M, 6M, 1Y, 3Y, 5Y, 10Y</a:t>
            </a:r>
          </a:p>
          <a:p>
            <a:r>
              <a:rPr lang="en-US" altLang="zh-CN" sz="2000" dirty="0"/>
              <a:t>Train/test indices via expanding windows</a:t>
            </a:r>
          </a:p>
          <a:p>
            <a:r>
              <a:rPr lang="en-US" altLang="zh-CN" sz="2000" dirty="0"/>
              <a:t>Exogenous features scaled (z-score) with 1–99% clipping to reduce leakage/outliers</a:t>
            </a:r>
          </a:p>
          <a:p>
            <a:r>
              <a:rPr lang="en-US" altLang="zh-CN" sz="2000" dirty="0"/>
              <a:t>Future </a:t>
            </a:r>
            <a:r>
              <a:rPr lang="en-US" altLang="zh-CN" sz="2000" dirty="0" err="1"/>
              <a:t>exog</a:t>
            </a:r>
            <a:r>
              <a:rPr lang="en-US" altLang="zh-CN" sz="2000" dirty="0"/>
              <a:t> = “last-known snapshot” for SARIMAX; GBM uses μ/σ from recent returns or GARCH</a:t>
            </a:r>
          </a:p>
          <a:p>
            <a:r>
              <a:rPr lang="en-US" altLang="zh-CN" sz="2000" dirty="0"/>
              <a:t>Models compared: SARIMAX, GBM, RF (direct-H); LSTM used for 30D sanity check</a:t>
            </a:r>
            <a:endParaRPr lang="zh-CN" alt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99E2B-6A1D-587D-5ED3-B3F8F6361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zh-CN" dirty="0"/>
              <a:t>Metrics for Points and Intervals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690C-2A41-B73C-4402-D3E65DB4D1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altLang="zh-CN" sz="1900" dirty="0"/>
              <a:t>Point: RMSE, MAE, MAPE, Directional Accuracy (DA)</a:t>
            </a:r>
          </a:p>
          <a:p>
            <a:r>
              <a:rPr lang="en-US" altLang="zh-CN" sz="1900" dirty="0"/>
              <a:t>Interval: 95% Coverage and Interval Score (proper scoring rule)</a:t>
            </a:r>
          </a:p>
          <a:p>
            <a:r>
              <a:rPr lang="en-US" altLang="zh-CN" sz="1900" dirty="0"/>
              <a:t>Short horizons prioritize point errors; long horizons emphasize coverage &amp; interval score</a:t>
            </a:r>
          </a:p>
          <a:p>
            <a:r>
              <a:rPr lang="en-US" altLang="zh-CN" sz="1900" dirty="0"/>
              <a:t>All metrics computed per model × horizon × asset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2561935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01E90-71F3-4E85-54C8-5B4E01F2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 err="1"/>
              <a:t>Backtest</a:t>
            </a:r>
            <a:r>
              <a:rPr lang="en-IN" altLang="zh-CN" dirty="0"/>
              <a:t> Examples (Equities)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21067-80C7-241A-3638-E461AB034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2957" y="1681163"/>
            <a:ext cx="3664118" cy="823912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2000" dirty="0"/>
              <a:t>Predicted vs. Actual — Equities (TSLA, GOOGL)</a:t>
            </a:r>
            <a:endParaRPr lang="zh-CN" alt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6E685-D1B4-FFFF-481B-75C961254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701064"/>
            <a:ext cx="4996808" cy="329261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Short-horizon behavior: SARIMAX tracks local mean-reverting moves well</a:t>
            </a:r>
          </a:p>
          <a:p>
            <a:r>
              <a:rPr lang="en-US" altLang="zh-CN" sz="2400" dirty="0"/>
              <a:t>Medium term: GBM helps when drift dominates; SARIMAX catches cycles with </a:t>
            </a:r>
            <a:r>
              <a:rPr lang="en-US" altLang="zh-CN" sz="2400" dirty="0" err="1"/>
              <a:t>exog</a:t>
            </a:r>
            <a:endParaRPr lang="en-US" altLang="zh-CN" sz="2400" dirty="0"/>
          </a:p>
          <a:p>
            <a:r>
              <a:rPr lang="en-US" altLang="zh-CN" sz="2400" dirty="0"/>
              <a:t>Intervals illustrate uncertainty growth with horizon</a:t>
            </a:r>
            <a:endParaRPr lang="zh-CN" altLang="en-US" sz="2400" dirty="0"/>
          </a:p>
        </p:txBody>
      </p:sp>
      <p:pic>
        <p:nvPicPr>
          <p:cNvPr id="8" name="Content Placeholder 7" descr="A graph of green and black lines&#10;&#10;AI-generated content may be incorrect.">
            <a:extLst>
              <a:ext uri="{FF2B5EF4-FFF2-40B4-BE49-F238E27FC236}">
                <a16:creationId xmlns:a16="http://schemas.microsoft.com/office/drawing/2014/main" id="{121731A9-67D2-B50F-5837-61DDC3EDD59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21" y="1392727"/>
            <a:ext cx="4894302" cy="2644252"/>
          </a:xfrm>
        </p:spPr>
      </p:pic>
      <p:pic>
        <p:nvPicPr>
          <p:cNvPr id="10" name="Picture 9" descr="A graph of stock market&#10;&#10;AI-generated content may be incorrect.">
            <a:extLst>
              <a:ext uri="{FF2B5EF4-FFF2-40B4-BE49-F238E27FC236}">
                <a16:creationId xmlns:a16="http://schemas.microsoft.com/office/drawing/2014/main" id="{624FC826-90B9-39A8-20F7-2E655CDFB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21" y="4143982"/>
            <a:ext cx="4894302" cy="264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64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8F81-C15D-5EFD-A255-A62E7241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 err="1"/>
              <a:t>Backtest</a:t>
            </a:r>
            <a:r>
              <a:rPr lang="en-IN" altLang="zh-CN" dirty="0"/>
              <a:t> Examples (Crypto)</a:t>
            </a:r>
            <a:endParaRPr lang="zh-CN" altLang="en-US" dirty="0"/>
          </a:p>
        </p:txBody>
      </p:sp>
      <p:pic>
        <p:nvPicPr>
          <p:cNvPr id="10" name="Content Placeholder 9" descr="A graph of different types of currency&#10;&#10;AI-generated content may be incorrect.">
            <a:extLst>
              <a:ext uri="{FF2B5EF4-FFF2-40B4-BE49-F238E27FC236}">
                <a16:creationId xmlns:a16="http://schemas.microsoft.com/office/drawing/2014/main" id="{9064165C-7BFE-E18D-8A88-84F69D38FD5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330" y="1574158"/>
            <a:ext cx="4896000" cy="2501731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563AEB-5513-9A6F-4AA9-A7CB9B385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2957" y="1681163"/>
            <a:ext cx="3584609" cy="823912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2000" dirty="0"/>
              <a:t>Predicted vs. Actual — Crypto (BTC, ETH)</a:t>
            </a:r>
            <a:endParaRPr lang="zh-CN" altLang="en-US" sz="20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68FA633-0482-479C-DBD9-BF877698BA0C}"/>
              </a:ext>
            </a:extLst>
          </p:cNvPr>
          <p:cNvSpPr txBox="1">
            <a:spLocks/>
          </p:cNvSpPr>
          <p:nvPr/>
        </p:nvSpPr>
        <p:spPr>
          <a:xfrm>
            <a:off x="836612" y="2701064"/>
            <a:ext cx="4996808" cy="329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Higher volatility and weekend trading challenge point forecasts</a:t>
            </a:r>
          </a:p>
          <a:p>
            <a:r>
              <a:rPr lang="en-US" altLang="zh-CN" sz="2400" dirty="0"/>
              <a:t>GBM captures trend-like moves; SARIMAX helpful when regimes stabilize</a:t>
            </a:r>
          </a:p>
          <a:p>
            <a:r>
              <a:rPr lang="en-US" altLang="zh-CN" sz="2400" dirty="0"/>
              <a:t>Uncertainty bands widen faster vs. equities</a:t>
            </a:r>
            <a:endParaRPr lang="zh-CN" altLang="en-US" sz="2400" dirty="0"/>
          </a:p>
        </p:txBody>
      </p:sp>
      <p:pic>
        <p:nvPicPr>
          <p:cNvPr id="12" name="Picture 11" descr="A graph of different types of currency&#10;&#10;AI-generated content may be incorrect.">
            <a:extLst>
              <a:ext uri="{FF2B5EF4-FFF2-40B4-BE49-F238E27FC236}">
                <a16:creationId xmlns:a16="http://schemas.microsoft.com/office/drawing/2014/main" id="{00A97CD8-A13C-1FFE-D91F-989030C86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56" y="4269547"/>
            <a:ext cx="4814374" cy="231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77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C041-09A5-4379-91C3-CC684CA4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Comparative Errors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1A2D-85CD-6757-9813-BE24B11C8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29855"/>
            <a:ext cx="5181600" cy="339812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Short-term (30D–3M): leadership flips — 30D often GBM, 3M tends to SARIMAX</a:t>
            </a:r>
          </a:p>
          <a:p>
            <a:r>
              <a:rPr lang="en-US" altLang="zh-CN" sz="2400" dirty="0"/>
              <a:t>1Y: SARIMAX generally most stable (lower RMSE/MAE)</a:t>
            </a:r>
          </a:p>
          <a:p>
            <a:r>
              <a:rPr lang="en-US" altLang="zh-CN" sz="2400" dirty="0"/>
              <a:t>Long horizons (3Y–10Y): GBM more competitive; RF sporadic wins (e.g., 5Y for TSLA)</a:t>
            </a:r>
            <a:endParaRPr lang="zh-CN" altLang="en-US" sz="2400" dirty="0"/>
          </a:p>
        </p:txBody>
      </p:sp>
      <p:pic>
        <p:nvPicPr>
          <p:cNvPr id="12" name="Content Placeholder 11" descr="A screenshot of a color chart&#10;&#10;AI-generated content may be incorrect.">
            <a:extLst>
              <a:ext uri="{FF2B5EF4-FFF2-40B4-BE49-F238E27FC236}">
                <a16:creationId xmlns:a16="http://schemas.microsoft.com/office/drawing/2014/main" id="{500E477A-84EB-5AC6-FA0B-02141026A0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1" y="1185848"/>
            <a:ext cx="5507476" cy="1970778"/>
          </a:xfrm>
        </p:spPr>
      </p:pic>
      <p:pic>
        <p:nvPicPr>
          <p:cNvPr id="14" name="Picture 13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DA07612B-69DC-74AE-6256-0F9BFFB24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016" y="3429000"/>
            <a:ext cx="4921045" cy="286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1731-2387-0F15-4F0A-48D5A7E7C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Forecast Interval Width Across Horizons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D5F2E-D7DA-010B-A29B-614357DAE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408788"/>
            <a:ext cx="5157787" cy="823912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2000" dirty="0"/>
              <a:t>Interval Width by Horizon (Price units)</a:t>
            </a:r>
            <a:endParaRPr lang="zh-CN" altLang="en-US" sz="2000" dirty="0"/>
          </a:p>
        </p:txBody>
      </p:sp>
      <p:pic>
        <p:nvPicPr>
          <p:cNvPr id="8" name="Content Placeholder 7" descr="A group of blue and orange bars&#10;&#10;AI-generated content may be incorrect.">
            <a:extLst>
              <a:ext uri="{FF2B5EF4-FFF2-40B4-BE49-F238E27FC236}">
                <a16:creationId xmlns:a16="http://schemas.microsoft.com/office/drawing/2014/main" id="{D4D50BD4-C474-F4C5-0F59-19C3282E5A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66" y="2232700"/>
            <a:ext cx="4474960" cy="305914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17DC9-6473-0F71-6C30-036CAA7E9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408788"/>
            <a:ext cx="5183188" cy="823912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2000" dirty="0"/>
              <a:t>Interval Width by Horizon (% of prediction)</a:t>
            </a:r>
            <a:endParaRPr lang="zh-CN" altLang="en-US" sz="2000" dirty="0"/>
          </a:p>
        </p:txBody>
      </p:sp>
      <p:pic>
        <p:nvPicPr>
          <p:cNvPr id="10" name="Content Placeholder 9" descr="A group of bars with different colored bars&#10;&#10;AI-generated content may be incorrect.">
            <a:extLst>
              <a:ext uri="{FF2B5EF4-FFF2-40B4-BE49-F238E27FC236}">
                <a16:creationId xmlns:a16="http://schemas.microsoft.com/office/drawing/2014/main" id="{C3DB7228-63C1-1E6E-BEE7-054EEEE2089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776" y="2232699"/>
            <a:ext cx="4474960" cy="305914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B11570-6B5A-A08C-54E7-53751A3754E9}"/>
              </a:ext>
            </a:extLst>
          </p:cNvPr>
          <p:cNvSpPr txBox="1"/>
          <p:nvPr/>
        </p:nvSpPr>
        <p:spPr>
          <a:xfrm>
            <a:off x="1196264" y="5449212"/>
            <a:ext cx="9799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Forecast intervals naturally widen as horizon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Equities (TSLA, GOOGL):</a:t>
            </a:r>
            <a:r>
              <a:rPr lang="en-US" altLang="zh-CN" dirty="0"/>
              <a:t> relatively moderate widening.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Cryptos (BTC, ETH):</a:t>
            </a:r>
            <a:r>
              <a:rPr lang="en-US" altLang="zh-CN" dirty="0"/>
              <a:t> significantly larger intervals → higher long-term uncertainty.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Percentage view highlights relative uncertainty; price-unit view shows absolute exposure.</a:t>
            </a:r>
          </a:p>
        </p:txBody>
      </p:sp>
    </p:spTree>
    <p:extLst>
      <p:ext uri="{BB962C8B-B14F-4D97-AF65-F5344CB8AC3E}">
        <p14:creationId xmlns:p14="http://schemas.microsoft.com/office/powerpoint/2010/main" val="1440271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3CCB-AD76-4706-E8F3-4340E216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Interval Calibration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E737-66B5-82E2-9A1E-9F1F592A1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36911"/>
            <a:ext cx="5181600" cy="306738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SARIMAX intervals are best aligned with 95% target on average</a:t>
            </a:r>
          </a:p>
          <a:p>
            <a:r>
              <a:rPr lang="en-US" altLang="zh-CN" sz="2400" dirty="0"/>
              <a:t>GBM slightly under/over-covers depending on μ/σ caps</a:t>
            </a:r>
          </a:p>
          <a:p>
            <a:r>
              <a:rPr lang="en-US" altLang="zh-CN" sz="2400" dirty="0"/>
              <a:t>RF needs conformal/quantile calibration for reliable bands</a:t>
            </a:r>
            <a:endParaRPr lang="zh-CN" altLang="en-US" sz="2400" dirty="0"/>
          </a:p>
        </p:txBody>
      </p:sp>
      <p:pic>
        <p:nvPicPr>
          <p:cNvPr id="6" name="Content Placeholder 5" descr="A group of blue bars&#10;&#10;AI-generated content may be incorrect.">
            <a:extLst>
              <a:ext uri="{FF2B5EF4-FFF2-40B4-BE49-F238E27FC236}">
                <a16:creationId xmlns:a16="http://schemas.microsoft.com/office/drawing/2014/main" id="{ADB6CCD1-8872-004B-C9C4-9C1C45359B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358" y="1373550"/>
            <a:ext cx="5865275" cy="4110899"/>
          </a:xfrm>
        </p:spPr>
      </p:pic>
    </p:spTree>
    <p:extLst>
      <p:ext uri="{BB962C8B-B14F-4D97-AF65-F5344CB8AC3E}">
        <p14:creationId xmlns:p14="http://schemas.microsoft.com/office/powerpoint/2010/main" val="2634849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0CBD-2DB1-5B73-0E08-90812D27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Best Model by Asset × Horizon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A751-EFE9-E033-F037-26FECCB012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Heuristic:</a:t>
            </a:r>
          </a:p>
          <a:p>
            <a:pPr lvl="1"/>
            <a:r>
              <a:rPr lang="en-US" altLang="zh-CN" sz="2000" dirty="0"/>
              <a:t>short horizons prioritize point errors; long horizons prioritize coverage &amp; interval score</a:t>
            </a:r>
          </a:p>
          <a:p>
            <a:r>
              <a:rPr lang="en-IN" altLang="zh-CN" sz="2400" dirty="0"/>
              <a:t>Champions:</a:t>
            </a:r>
          </a:p>
          <a:p>
            <a:pPr lvl="1"/>
            <a:r>
              <a:rPr lang="en-US" altLang="zh-CN" sz="2000" dirty="0"/>
              <a:t>TSLA: SARIMAX vs GBM trade-off; RF wins at 5Y once</a:t>
            </a:r>
          </a:p>
          <a:p>
            <a:pPr lvl="1"/>
            <a:r>
              <a:rPr lang="en-US" altLang="zh-CN" sz="2000" dirty="0"/>
              <a:t>GOOGL: SARIMAX dominates across horizons</a:t>
            </a:r>
          </a:p>
          <a:p>
            <a:pPr lvl="1"/>
            <a:r>
              <a:rPr lang="es-ES" altLang="zh-CN" sz="2000" dirty="0"/>
              <a:t>BTC: 30D/3M/6M/1Y → </a:t>
            </a:r>
            <a:r>
              <a:rPr lang="es-ES" altLang="zh-CN" sz="2000" dirty="0" err="1"/>
              <a:t>mostly</a:t>
            </a:r>
            <a:r>
              <a:rPr lang="es-ES" altLang="zh-CN" sz="2000" dirty="0"/>
              <a:t> SARIMAX; 10Y → GBM</a:t>
            </a:r>
          </a:p>
          <a:p>
            <a:pPr lvl="1"/>
            <a:r>
              <a:rPr lang="en-US" altLang="zh-CN" sz="2000" dirty="0"/>
              <a:t>ETH: short–mid → mostly GBM; 5Y RF appears once</a:t>
            </a:r>
            <a:endParaRPr lang="zh-CN" altLang="en-US" sz="2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DDC02A-5D7D-37BC-F4CE-5FA299429A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86053926"/>
              </p:ext>
            </p:extLst>
          </p:nvPr>
        </p:nvGraphicFramePr>
        <p:xfrm>
          <a:off x="6019800" y="2490301"/>
          <a:ext cx="5809033" cy="3021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6334">
                  <a:extLst>
                    <a:ext uri="{9D8B030D-6E8A-4147-A177-3AD203B41FA5}">
                      <a16:colId xmlns:a16="http://schemas.microsoft.com/office/drawing/2014/main" val="1760182271"/>
                    </a:ext>
                  </a:extLst>
                </a:gridCol>
                <a:gridCol w="970011">
                  <a:extLst>
                    <a:ext uri="{9D8B030D-6E8A-4147-A177-3AD203B41FA5}">
                      <a16:colId xmlns:a16="http://schemas.microsoft.com/office/drawing/2014/main" val="2596688069"/>
                    </a:ext>
                  </a:extLst>
                </a:gridCol>
                <a:gridCol w="968172">
                  <a:extLst>
                    <a:ext uri="{9D8B030D-6E8A-4147-A177-3AD203B41FA5}">
                      <a16:colId xmlns:a16="http://schemas.microsoft.com/office/drawing/2014/main" val="1067176201"/>
                    </a:ext>
                  </a:extLst>
                </a:gridCol>
                <a:gridCol w="968172">
                  <a:extLst>
                    <a:ext uri="{9D8B030D-6E8A-4147-A177-3AD203B41FA5}">
                      <a16:colId xmlns:a16="http://schemas.microsoft.com/office/drawing/2014/main" val="4083867463"/>
                    </a:ext>
                  </a:extLst>
                </a:gridCol>
                <a:gridCol w="968172">
                  <a:extLst>
                    <a:ext uri="{9D8B030D-6E8A-4147-A177-3AD203B41FA5}">
                      <a16:colId xmlns:a16="http://schemas.microsoft.com/office/drawing/2014/main" val="3825134426"/>
                    </a:ext>
                  </a:extLst>
                </a:gridCol>
                <a:gridCol w="968172">
                  <a:extLst>
                    <a:ext uri="{9D8B030D-6E8A-4147-A177-3AD203B41FA5}">
                      <a16:colId xmlns:a16="http://schemas.microsoft.com/office/drawing/2014/main" val="1800311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30D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6M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1Y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5Y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10Y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587208"/>
                  </a:ext>
                </a:extLst>
              </a:tr>
              <a:tr h="656904">
                <a:tc>
                  <a:txBody>
                    <a:bodyPr/>
                    <a:lstStyle/>
                    <a:p>
                      <a:pPr algn="ctr"/>
                      <a:r>
                        <a:rPr lang="en-IN" altLang="zh-CN" b="1" dirty="0"/>
                        <a:t>TSLA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SARIMAX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RF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630616"/>
                  </a:ext>
                </a:extLst>
              </a:tr>
              <a:tr h="71408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GOOGL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830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BTC-USD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zh-CN" sz="1400" dirty="0">
                          <a:effectLst/>
                        </a:rPr>
                        <a:t>SARIMAX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64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ETH-USD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GBM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48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64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0572-E1F1-464A-A6DF-94B85D27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Key Takeaways &amp; Playbook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5A68-5A51-BDDE-7D44-CD760D9C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Short/medium term:</a:t>
            </a:r>
          </a:p>
          <a:p>
            <a:pPr lvl="1"/>
            <a:r>
              <a:rPr lang="en-US" altLang="zh-CN" dirty="0"/>
              <a:t>SARIMAX is the workhorse; blend GBM under strong drift</a:t>
            </a:r>
          </a:p>
          <a:p>
            <a:r>
              <a:rPr lang="en-US" altLang="zh-CN" b="1" dirty="0"/>
              <a:t>1Y:</a:t>
            </a:r>
          </a:p>
          <a:p>
            <a:pPr lvl="1"/>
            <a:r>
              <a:rPr lang="en-US" altLang="zh-CN" dirty="0"/>
              <a:t>prefer SARIMAX; cross-check with GBM when intervals disagree</a:t>
            </a:r>
          </a:p>
          <a:p>
            <a:r>
              <a:rPr lang="en-IN" altLang="zh-CN" b="1" dirty="0"/>
              <a:t>3Y+:</a:t>
            </a:r>
          </a:p>
          <a:p>
            <a:pPr lvl="1"/>
            <a:r>
              <a:rPr lang="en-IN" altLang="zh-CN" dirty="0"/>
              <a:t>median ensemble of SARIMAX+GBM balances stability vs. trend</a:t>
            </a:r>
          </a:p>
          <a:p>
            <a:r>
              <a:rPr lang="en-US" altLang="zh-CN" b="1" dirty="0"/>
              <a:t>RF:</a:t>
            </a:r>
          </a:p>
          <a:p>
            <a:pPr lvl="1"/>
            <a:r>
              <a:rPr lang="en-US" altLang="zh-CN" dirty="0"/>
              <a:t>keep as calibrated secondary (direct-H) component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Report SARIMAX intervals by default; post-adjust GBM coverage; conformal for RF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803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5A7F-D5CF-7C67-C00E-EFE84594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5F2D-4C3F-8591-9ACB-4F205A9A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C525-EE1C-2955-174E-83D058787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5E4E8-852B-A9C5-F008-53E0EC9DC9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b="1" dirty="0"/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357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A421-CF75-79ED-0DA6-1BD019BB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Forecast Results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E2601-EF22-FEF8-43D1-DAD3CF85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altLang="zh-CN" dirty="0"/>
              <a:t>Intro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E2AFB-519E-84A1-68A3-321825C298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Forward-looking forecasts with best model per asset × horizon</a:t>
            </a:r>
          </a:p>
          <a:p>
            <a:r>
              <a:rPr lang="en-US" altLang="zh-CN" dirty="0"/>
              <a:t>Short-term (30D–6M) vs Long-term (1Y–10Y)</a:t>
            </a:r>
          </a:p>
          <a:p>
            <a:r>
              <a:rPr lang="en-IN" altLang="zh-CN" dirty="0"/>
              <a:t>Results presented mainly in tables with key insights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13EE1-A432-9135-E6D8-A1BE575D2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IN" altLang="zh-CN" dirty="0"/>
              <a:t>Forecasting Framework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6B85A-59BA-BE6C-4349-58B4B7F045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CN" dirty="0"/>
              <a:t>Convert horizons into trading steps (daily vs business days)</a:t>
            </a:r>
          </a:p>
          <a:p>
            <a:r>
              <a:rPr lang="en-US" altLang="zh-CN" dirty="0"/>
              <a:t>Hold-last scenario for exogenous variables</a:t>
            </a:r>
          </a:p>
          <a:p>
            <a:r>
              <a:rPr lang="it-IT" altLang="zh-CN" dirty="0"/>
              <a:t>Model dispatch: SARIMAX / GBM / RF</a:t>
            </a:r>
          </a:p>
          <a:p>
            <a:r>
              <a:rPr lang="en-US" altLang="zh-CN" dirty="0"/>
              <a:t>Output: point forecasts + 95% intervals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9227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67B4-EAF4-DB18-C0C0-153D7B51D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Short-Term Forecasts (30D–6M)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7073-3AD3-9684-31DD-ABCA8E243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825625"/>
            <a:ext cx="4327189" cy="339687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TSLA:</a:t>
            </a:r>
            <a:r>
              <a:rPr lang="en-US" altLang="zh-CN" sz="2400" dirty="0"/>
              <a:t> ~335 (GBM/SARIMAX) with widening bands at 6M</a:t>
            </a:r>
          </a:p>
          <a:p>
            <a:r>
              <a:rPr lang="en-IN" altLang="zh-CN" sz="2400" b="1" dirty="0"/>
              <a:t>GOOGL:</a:t>
            </a:r>
            <a:r>
              <a:rPr lang="en-IN" altLang="zh-CN" sz="2400" dirty="0"/>
              <a:t> ~229 (SARIMAX) stable, 251 at 6M (GBM)</a:t>
            </a:r>
          </a:p>
          <a:p>
            <a:r>
              <a:rPr lang="en-IN" altLang="zh-CN" sz="2400" b="1" dirty="0"/>
              <a:t>BTC-USD:</a:t>
            </a:r>
            <a:r>
              <a:rPr lang="en-IN" altLang="zh-CN" sz="2400" dirty="0"/>
              <a:t> ~110k (SARIMAX), intervals widen rapidly</a:t>
            </a:r>
          </a:p>
          <a:p>
            <a:r>
              <a:rPr lang="en-US" altLang="zh-CN" sz="2400" b="1" dirty="0"/>
              <a:t>ETH-USD:</a:t>
            </a:r>
            <a:r>
              <a:rPr lang="en-US" altLang="zh-CN" sz="2400" dirty="0"/>
              <a:t> ~4k (GBM), very wide uncertainty</a:t>
            </a:r>
            <a:endParaRPr lang="zh-CN" altLang="en-US" sz="2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04EB00-8E03-6DF7-13F7-CDAC4183485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7201544"/>
              </p:ext>
            </p:extLst>
          </p:nvPr>
        </p:nvGraphicFramePr>
        <p:xfrm>
          <a:off x="4795736" y="2085340"/>
          <a:ext cx="7217924" cy="268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4481">
                  <a:extLst>
                    <a:ext uri="{9D8B030D-6E8A-4147-A177-3AD203B41FA5}">
                      <a16:colId xmlns:a16="http://schemas.microsoft.com/office/drawing/2014/main" val="2859246732"/>
                    </a:ext>
                  </a:extLst>
                </a:gridCol>
                <a:gridCol w="1804481">
                  <a:extLst>
                    <a:ext uri="{9D8B030D-6E8A-4147-A177-3AD203B41FA5}">
                      <a16:colId xmlns:a16="http://schemas.microsoft.com/office/drawing/2014/main" val="934085596"/>
                    </a:ext>
                  </a:extLst>
                </a:gridCol>
                <a:gridCol w="1804481">
                  <a:extLst>
                    <a:ext uri="{9D8B030D-6E8A-4147-A177-3AD203B41FA5}">
                      <a16:colId xmlns:a16="http://schemas.microsoft.com/office/drawing/2014/main" val="1572121604"/>
                    </a:ext>
                  </a:extLst>
                </a:gridCol>
                <a:gridCol w="1804481">
                  <a:extLst>
                    <a:ext uri="{9D8B030D-6E8A-4147-A177-3AD203B41FA5}">
                      <a16:colId xmlns:a16="http://schemas.microsoft.com/office/drawing/2014/main" val="3348311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Asset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6M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2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TSLA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350 (234–530)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348 (251–483)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348 (130–914)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98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GOOGL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237 (222–252)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237 (212–264)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258 (165–409)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31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BTC-USD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 110,821 (85,436–143,749)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 110,821 (70,201–174,945)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SARIMAX: 110,821 (57,984–211,805)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6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ETH-USD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GBM: 4,214 (2,675–6,744)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GBM: 4,137 (1,835–9,332)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GBM: 3,942 (1,320–13,365)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33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493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4A8F-878E-01B7-6290-83C26259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831F-87B4-2219-EE03-967296E0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Long-Term Forecasts (1Y–10Y)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B551-B8BD-2EEB-C75A-22419604B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718" y="1730561"/>
            <a:ext cx="4327189" cy="3396878"/>
          </a:xfrm>
        </p:spPr>
        <p:txBody>
          <a:bodyPr>
            <a:normAutofit fontScale="92500"/>
          </a:bodyPr>
          <a:lstStyle/>
          <a:p>
            <a:r>
              <a:rPr lang="en-US" altLang="zh-CN" sz="2400" b="1" dirty="0"/>
              <a:t>TSLA:</a:t>
            </a:r>
            <a:r>
              <a:rPr lang="en-US" altLang="zh-CN" sz="2400" dirty="0"/>
              <a:t> stable medians (~335), wide bands at 10Y</a:t>
            </a:r>
          </a:p>
          <a:p>
            <a:r>
              <a:rPr lang="en-US" altLang="zh-CN" sz="2400" b="1" dirty="0"/>
              <a:t>GOOGL:</a:t>
            </a:r>
            <a:r>
              <a:rPr lang="en-US" altLang="zh-CN" sz="2400" dirty="0"/>
              <a:t> SARIMAX up to 5Y, GBM at 10Y (~278, wide)</a:t>
            </a:r>
            <a:endParaRPr lang="en-IN" altLang="zh-CN" sz="2400" dirty="0"/>
          </a:p>
          <a:p>
            <a:r>
              <a:rPr lang="en-US" altLang="zh-CN" sz="2400" b="1" dirty="0"/>
              <a:t>BTC-USD:</a:t>
            </a:r>
            <a:r>
              <a:rPr lang="en-US" altLang="zh-CN" sz="2400" dirty="0"/>
              <a:t> ~110k at 1Y, GBM dominates 3–10Y with extreme ranges</a:t>
            </a:r>
            <a:endParaRPr lang="en-IN" altLang="zh-CN" sz="2400" dirty="0"/>
          </a:p>
          <a:p>
            <a:r>
              <a:rPr lang="en-US" altLang="zh-CN" sz="2400" b="1" dirty="0"/>
              <a:t>ETH-USD:</a:t>
            </a:r>
            <a:r>
              <a:rPr lang="en-US" altLang="zh-CN" sz="2400" dirty="0"/>
              <a:t> ~3.9k at 1Y, GBM/RF mix with large uncertainty</a:t>
            </a:r>
            <a:endParaRPr lang="zh-CN" altLang="en-US" sz="2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5717B49-C8D2-F003-631F-12E24606EB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09250001"/>
              </p:ext>
            </p:extLst>
          </p:nvPr>
        </p:nvGraphicFramePr>
        <p:xfrm>
          <a:off x="4711432" y="1887220"/>
          <a:ext cx="7303850" cy="308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770">
                  <a:extLst>
                    <a:ext uri="{9D8B030D-6E8A-4147-A177-3AD203B41FA5}">
                      <a16:colId xmlns:a16="http://schemas.microsoft.com/office/drawing/2014/main" val="2859246732"/>
                    </a:ext>
                  </a:extLst>
                </a:gridCol>
                <a:gridCol w="1460770">
                  <a:extLst>
                    <a:ext uri="{9D8B030D-6E8A-4147-A177-3AD203B41FA5}">
                      <a16:colId xmlns:a16="http://schemas.microsoft.com/office/drawing/2014/main" val="934085596"/>
                    </a:ext>
                  </a:extLst>
                </a:gridCol>
                <a:gridCol w="1460770">
                  <a:extLst>
                    <a:ext uri="{9D8B030D-6E8A-4147-A177-3AD203B41FA5}">
                      <a16:colId xmlns:a16="http://schemas.microsoft.com/office/drawing/2014/main" val="1572121604"/>
                    </a:ext>
                  </a:extLst>
                </a:gridCol>
                <a:gridCol w="1460770">
                  <a:extLst>
                    <a:ext uri="{9D8B030D-6E8A-4147-A177-3AD203B41FA5}">
                      <a16:colId xmlns:a16="http://schemas.microsoft.com/office/drawing/2014/main" val="3348311560"/>
                    </a:ext>
                  </a:extLst>
                </a:gridCol>
                <a:gridCol w="1460770">
                  <a:extLst>
                    <a:ext uri="{9D8B030D-6E8A-4147-A177-3AD203B41FA5}">
                      <a16:colId xmlns:a16="http://schemas.microsoft.com/office/drawing/2014/main" val="2470788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Asset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3Y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10Y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25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TSLA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348 (179–678)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220 (20–2,440)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RF: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844 (point)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348 (42–2,865)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98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GOOGL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237 (190–295)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237 (161–347)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237 (144–388)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286 (42–1,997)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31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BTC-USD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110,821 (43,992–279,169)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116,427 (20,680–627,325)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94,990 (10,970–849,446)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62,565 (2,994–1,316,006)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6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ETH-USD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3,897 (815–19,181)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SARIMAX: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4,302 (713–25,957)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RF: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52,032 (point)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GBM: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1,401 (35–55,639)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33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843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DD78-E2B6-C600-38B6-A350D1FE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Cross-Asset Comparison</a:t>
            </a:r>
            <a:endParaRPr lang="zh-CN" altLang="en-US" dirty="0"/>
          </a:p>
        </p:txBody>
      </p:sp>
      <p:pic>
        <p:nvPicPr>
          <p:cNvPr id="5" name="Content Placeholder 4" descr="A graph of stock market&#10;&#10;AI-generated content may be incorrect.">
            <a:extLst>
              <a:ext uri="{FF2B5EF4-FFF2-40B4-BE49-F238E27FC236}">
                <a16:creationId xmlns:a16="http://schemas.microsoft.com/office/drawing/2014/main" id="{E7F9D560-DE7B-2B82-0A6B-0E4E337EC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39" y="1914424"/>
            <a:ext cx="5164657" cy="4021347"/>
          </a:xfrm>
        </p:spPr>
      </p:pic>
      <p:pic>
        <p:nvPicPr>
          <p:cNvPr id="7" name="Picture 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A7D6385-A4E0-E293-B5B2-3EAE60195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96" y="1914423"/>
            <a:ext cx="5164657" cy="4021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CE45C-7DCF-8EB2-AD60-91A6B62DCD1E}"/>
              </a:ext>
            </a:extLst>
          </p:cNvPr>
          <p:cNvSpPr txBox="1"/>
          <p:nvPr/>
        </p:nvSpPr>
        <p:spPr>
          <a:xfrm>
            <a:off x="838200" y="5935769"/>
            <a:ext cx="10118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Compare assets side by side at 30D and 1Y horizons:</a:t>
            </a:r>
          </a:p>
          <a:p>
            <a:r>
              <a:rPr lang="en-US" altLang="zh-CN" dirty="0"/>
              <a:t>Stocks: tighter ranges, more predictable; Crypto: wider ranges, higher risk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3126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49C4-36E8-8FF4-4187-D5846279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Stress Testing — SARIMAX &amp; GBM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54DD-D499-6D8F-CEA2-D1792CAD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325562"/>
          </a:xfrm>
        </p:spPr>
        <p:txBody>
          <a:bodyPr>
            <a:normAutofit fontScale="92500" lnSpcReduction="20000"/>
          </a:bodyPr>
          <a:lstStyle/>
          <a:p>
            <a:r>
              <a:rPr lang="en-IN" altLang="zh-CN" sz="2400" b="1" dirty="0"/>
              <a:t>SARIMAX stress:</a:t>
            </a:r>
            <a:r>
              <a:rPr lang="en-IN" altLang="zh-CN" sz="2400" dirty="0"/>
              <a:t> macro shocks on exogenous variables (e.g., VIX ↑)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</a:p>
          <a:p>
            <a:pPr marL="0" indent="0">
              <a:buNone/>
            </a:pPr>
            <a:r>
              <a:rPr lang="en-US" altLang="zh-CN" sz="1800" dirty="0"/>
              <a:t>	VIX Stress Test (TSLA, 30D)</a:t>
            </a:r>
            <a:endParaRPr lang="en-IN" altLang="zh-C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CDBD9-F031-F504-05F2-E9021BB01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32556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b="1" dirty="0"/>
              <a:t>GBM stress:</a:t>
            </a:r>
            <a:r>
              <a:rPr lang="en-US" altLang="zh-CN" sz="2400" dirty="0"/>
              <a:t> scale volatility σ to show uncertainty ballooning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1800" dirty="0"/>
              <a:t>	Volatility Stress Test (BTC, 1Y)</a:t>
            </a:r>
            <a:endParaRPr lang="zh-CN" altLang="en-US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02B61F-19B2-AAB2-722B-CB7DC4F04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02245"/>
              </p:ext>
            </p:extLst>
          </p:nvPr>
        </p:nvGraphicFramePr>
        <p:xfrm>
          <a:off x="838198" y="3151187"/>
          <a:ext cx="506649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33245">
                  <a:extLst>
                    <a:ext uri="{9D8B030D-6E8A-4147-A177-3AD203B41FA5}">
                      <a16:colId xmlns:a16="http://schemas.microsoft.com/office/drawing/2014/main" val="3132888703"/>
                    </a:ext>
                  </a:extLst>
                </a:gridCol>
                <a:gridCol w="2533245">
                  <a:extLst>
                    <a:ext uri="{9D8B030D-6E8A-4147-A177-3AD203B41FA5}">
                      <a16:colId xmlns:a16="http://schemas.microsoft.com/office/drawing/2014/main" val="731044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Forecast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20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VIX +0%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335 (278–404)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86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VIX +1%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335 (278–404)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02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VIX +2%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335 (278–404)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680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VIX +5%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335 (278–404)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68518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532A19-C898-8E10-EC09-A560E957F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738325"/>
              </p:ext>
            </p:extLst>
          </p:nvPr>
        </p:nvGraphicFramePr>
        <p:xfrm>
          <a:off x="6287314" y="3151187"/>
          <a:ext cx="506649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0654">
                  <a:extLst>
                    <a:ext uri="{9D8B030D-6E8A-4147-A177-3AD203B41FA5}">
                      <a16:colId xmlns:a16="http://schemas.microsoft.com/office/drawing/2014/main" val="3132888703"/>
                    </a:ext>
                  </a:extLst>
                </a:gridCol>
                <a:gridCol w="3065836">
                  <a:extLst>
                    <a:ext uri="{9D8B030D-6E8A-4147-A177-3AD203B41FA5}">
                      <a16:colId xmlns:a16="http://schemas.microsoft.com/office/drawing/2014/main" val="731044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σ </a:t>
                      </a:r>
                      <a:r>
                        <a:rPr lang="en-IN" dirty="0"/>
                        <a:t>Multiplier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Forecast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20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σ ×1.0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122,960 (46,896–324,571)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86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σ ×1.25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116,083 (35,104–392,377)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02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σ ×1.5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105,346 (22,995–474,362)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680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σ ×2.0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85,213 (11,886–590,298)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6851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9CE21F-FF35-1B2C-7E53-BC31F03CA016}"/>
              </a:ext>
            </a:extLst>
          </p:cNvPr>
          <p:cNvSpPr txBox="1"/>
          <p:nvPr/>
        </p:nvSpPr>
        <p:spPr>
          <a:xfrm>
            <a:off x="838200" y="5554494"/>
            <a:ext cx="10515600" cy="661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Equities (SARIMAX) show stable near-term forecasts under macro shocks, while Crypto (GBM) exhibits ballooning uncertainty as volatility rises.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405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D3CB-8792-C779-7A8B-B7CB9F83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Insights &amp; Takeaways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377C-E54D-892C-CE63-8880A6FD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en-IN" altLang="zh-CN" b="1" dirty="0"/>
              <a:t>Short-term (30D–6M):</a:t>
            </a:r>
            <a:endParaRPr lang="en-US" altLang="zh-CN" b="1" dirty="0"/>
          </a:p>
          <a:p>
            <a:pPr lvl="1"/>
            <a:r>
              <a:rPr lang="en-US" altLang="zh-CN" dirty="0"/>
              <a:t>SARIMAX provides tighter, well-calibrated intervals → reliable for equities</a:t>
            </a:r>
          </a:p>
          <a:p>
            <a:pPr lvl="1"/>
            <a:r>
              <a:rPr lang="en-US" altLang="zh-CN" dirty="0"/>
              <a:t>Crypto forecasts much wider (BTC ~110k, ETH ~4k) → high short-term risk</a:t>
            </a:r>
          </a:p>
          <a:p>
            <a:r>
              <a:rPr lang="en-IN" altLang="zh-CN" b="1" dirty="0"/>
              <a:t>Long-term (1Y–10Y):</a:t>
            </a:r>
            <a:endParaRPr lang="en-US" altLang="zh-CN" b="1" dirty="0"/>
          </a:p>
          <a:p>
            <a:pPr lvl="1"/>
            <a:r>
              <a:rPr lang="en-US" altLang="zh-CN" dirty="0"/>
              <a:t>GBM dominates; intervals balloon with horizon</a:t>
            </a:r>
          </a:p>
          <a:p>
            <a:pPr lvl="1"/>
            <a:r>
              <a:rPr lang="en-US" altLang="zh-CN" dirty="0"/>
              <a:t>Equities show moderate widening; crypto uncertainty extreme (e.g., BTC 10Y [3k–1.3M])</a:t>
            </a:r>
          </a:p>
          <a:p>
            <a:pPr lvl="1"/>
            <a:r>
              <a:rPr lang="en-US" altLang="zh-CN" dirty="0"/>
              <a:t>RF gives point-only signals (not risk-aware)</a:t>
            </a:r>
          </a:p>
          <a:p>
            <a:r>
              <a:rPr lang="en-IN" altLang="zh-CN" b="1" dirty="0"/>
              <a:t>Stress tests:</a:t>
            </a:r>
            <a:endParaRPr lang="en-US" altLang="zh-CN" b="1" dirty="0"/>
          </a:p>
          <a:p>
            <a:pPr lvl="1"/>
            <a:r>
              <a:rPr lang="en-US" altLang="zh-CN" dirty="0"/>
              <a:t>SARIMAX macro shocks (e.g., VIX ↑) → minimal short-term shifts</a:t>
            </a:r>
          </a:p>
          <a:p>
            <a:pPr lvl="1"/>
            <a:r>
              <a:rPr lang="en-US" altLang="zh-CN" dirty="0"/>
              <a:t>GBM volatility scaling → median stable but risk bands widen significantly</a:t>
            </a:r>
          </a:p>
          <a:p>
            <a:r>
              <a:rPr lang="en-IN" altLang="zh-CN" b="1" dirty="0"/>
              <a:t>Key takeaway:</a:t>
            </a:r>
            <a:endParaRPr lang="en-US" altLang="zh-CN" b="1" dirty="0"/>
          </a:p>
          <a:p>
            <a:pPr lvl="1"/>
            <a:r>
              <a:rPr lang="en-US" altLang="zh-CN" dirty="0"/>
              <a:t>Focus on intervals, not just points</a:t>
            </a:r>
          </a:p>
          <a:p>
            <a:pPr lvl="1"/>
            <a:r>
              <a:rPr lang="en-US" altLang="zh-CN" dirty="0"/>
              <a:t>Blend models: SARIMAX for near-term guidance, GBM for long-term risk envelopes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6135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AD7E0-A722-99AE-5BAA-65B08A7D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B0EC-F280-3B9F-F162-CEF74CC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FD78-8A4C-9447-DF48-3D8785B6D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797BE-B5EC-1F8A-B2C2-F3CC198820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b="1" dirty="0"/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Future Evaluation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142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C0F7-311A-DCDE-BCFD-F4ED56FF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Interpretation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B3D33-233B-C7F1-2662-C8E34A686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altLang="zh-CN" sz="2800" dirty="0"/>
              <a:t>Model Insights</a:t>
            </a:r>
            <a:endParaRPr lang="zh-CN" alt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6C0D-493B-7785-8B44-EFC2A4D049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b="1" dirty="0"/>
              <a:t>SARIMAX:</a:t>
            </a:r>
          </a:p>
          <a:p>
            <a:pPr lvl="1"/>
            <a:r>
              <a:rPr lang="en-US" altLang="zh-CN" sz="2000" dirty="0"/>
              <a:t>Best 30D–1Y, interpretable, calibrated; weaker in regime shifts</a:t>
            </a:r>
          </a:p>
          <a:p>
            <a:r>
              <a:rPr lang="en-US" altLang="zh-CN" sz="2400" b="1" dirty="0"/>
              <a:t>GBM:</a:t>
            </a:r>
          </a:p>
          <a:p>
            <a:pPr lvl="1"/>
            <a:r>
              <a:rPr lang="en-US" altLang="zh-CN" sz="2000" dirty="0"/>
              <a:t>Best 3–10Y, captures compounding vol; bands widen fast</a:t>
            </a:r>
          </a:p>
          <a:p>
            <a:r>
              <a:rPr lang="en-US" altLang="zh-CN" sz="2400" b="1" dirty="0"/>
              <a:t>RF:</a:t>
            </a:r>
          </a:p>
          <a:p>
            <a:pPr lvl="1"/>
            <a:r>
              <a:rPr lang="en-US" altLang="zh-CN" sz="2000" dirty="0"/>
              <a:t>Nonlinear short-term signals; point-only, no bands</a:t>
            </a:r>
          </a:p>
          <a:p>
            <a:r>
              <a:rPr lang="en-US" altLang="zh-CN" sz="2400" b="1" dirty="0"/>
              <a:t>LSTM:</a:t>
            </a:r>
          </a:p>
          <a:p>
            <a:pPr lvl="1"/>
            <a:r>
              <a:rPr lang="en-US" altLang="zh-CN" sz="2000" dirty="0"/>
              <a:t>Sequential learner; data-hungry, optional satellite</a:t>
            </a:r>
            <a:endParaRPr lang="zh-CN" alt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E90C8-A20D-47F4-3962-E9C84CE89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IN" altLang="zh-CN" sz="2800" dirty="0"/>
              <a:t>Short vs Long &amp; Cross-Asset</a:t>
            </a:r>
            <a:endParaRPr lang="zh-CN" alt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B24CA-7EB0-FEA0-2FD3-95428DE22C6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b="1" dirty="0"/>
              <a:t>Short-term (30D–6M):</a:t>
            </a:r>
          </a:p>
          <a:p>
            <a:pPr lvl="1"/>
            <a:r>
              <a:rPr lang="en-US" altLang="zh-CN" sz="2000" dirty="0"/>
              <a:t>actionable, SARIMAX/RF preferred</a:t>
            </a:r>
          </a:p>
          <a:p>
            <a:r>
              <a:rPr lang="en-US" altLang="zh-CN" sz="2400" b="1" dirty="0"/>
              <a:t>Long-term (1Y–10Y):</a:t>
            </a:r>
          </a:p>
          <a:p>
            <a:pPr lvl="1"/>
            <a:r>
              <a:rPr lang="en-US" altLang="zh-CN" sz="2000" dirty="0"/>
              <a:t>uncertainty dominates, GBM for risk envelopes</a:t>
            </a:r>
          </a:p>
          <a:p>
            <a:r>
              <a:rPr lang="en-US" altLang="zh-CN" sz="2400" b="1" dirty="0"/>
              <a:t>Stocks:</a:t>
            </a:r>
          </a:p>
          <a:p>
            <a:pPr lvl="1"/>
            <a:r>
              <a:rPr lang="en-US" altLang="zh-CN" sz="2000" dirty="0"/>
              <a:t>narrower, macro-sensitive but stable</a:t>
            </a:r>
          </a:p>
          <a:p>
            <a:r>
              <a:rPr lang="en-US" altLang="zh-CN" sz="2400" b="1" dirty="0"/>
              <a:t>Crypto:</a:t>
            </a:r>
          </a:p>
          <a:p>
            <a:pPr lvl="1"/>
            <a:r>
              <a:rPr lang="en-US" altLang="zh-CN" sz="2000" dirty="0"/>
              <a:t>much wider even at 30D; long-term bands extreme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97707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6177-2B13-241F-62A9-7A93533E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Risk &amp; Takeaways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AFA9-B613-68D1-B668-B5E2A6C2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Interval widening = main signal; SARIMAX calibrated, GBM conservative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No model captures black swans → stress testing essential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/>
              <a:t>For Investors:</a:t>
            </a:r>
            <a:r>
              <a:rPr lang="en-US" altLang="zh-CN" dirty="0"/>
              <a:t> SARIMAX short-term, GBM long-term, re-estimate often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/>
              <a:t>For Risk Managers:</a:t>
            </a:r>
            <a:r>
              <a:rPr lang="en-US" altLang="zh-CN" dirty="0"/>
              <a:t> run macro (SARIMAX) &amp; vol (GBM) stress; use blended narrative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954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7541-53B2-5CAF-7341-D4D7F273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715A-A0E7-FB37-ADFB-EA1511BA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Contents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9572C-88D0-F1F6-02A7-EDF74E09A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Overview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Data Collection &amp; Preparation</a:t>
            </a:r>
          </a:p>
          <a:p>
            <a:pPr marL="0" indent="0">
              <a:buNone/>
            </a:pPr>
            <a:endParaRPr lang="en-IN" altLang="zh-CN" dirty="0"/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Feature Engineering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 Approach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CDD47-C8D1-65B3-B3FB-24AD616605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Model Evaluation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Forecast Results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dirty="0">
                <a:solidFill>
                  <a:schemeClr val="bg1">
                    <a:lumMod val="50000"/>
                  </a:schemeClr>
                </a:solidFill>
              </a:rPr>
              <a:t>Interpretation</a:t>
            </a:r>
          </a:p>
          <a:p>
            <a:pPr marL="0" indent="0">
              <a:buNone/>
            </a:pPr>
            <a:endParaRPr lang="en-IN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altLang="zh-CN" b="1" dirty="0"/>
              <a:t>Future Evaluation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059822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4CCB-F60E-B9D8-850E-5BBB658B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Future Evaluation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0DDC-9342-AF09-8A0E-99FA923C2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zh-CN" dirty="0"/>
              <a:t>Intro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C0F4F-291B-8E9C-B759-041C202EFE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Forecasting is iterative, not one-time</a:t>
            </a:r>
          </a:p>
          <a:p>
            <a:r>
              <a:rPr lang="en-US" altLang="zh-CN" dirty="0"/>
              <a:t>Build a feedback loop: Forecast → Validate → Improve → New Forecast</a:t>
            </a:r>
          </a:p>
          <a:p>
            <a:r>
              <a:rPr lang="en-US" altLang="zh-CN" dirty="0"/>
              <a:t>Ensure models adapt to changing markets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B82F1-DAB0-15FF-92F2-D365D0508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altLang="zh-CN" dirty="0"/>
              <a:t>Validation Process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6B679-8F63-1644-D29D-E01CEED5D1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CN" dirty="0"/>
              <a:t>Compare forecasts with realized prices at horizon endpoints</a:t>
            </a:r>
          </a:p>
          <a:p>
            <a:r>
              <a:rPr lang="en-US" altLang="zh-CN" dirty="0"/>
              <a:t>Track performance per asset and horizon (30D → 10Y)</a:t>
            </a:r>
          </a:p>
          <a:p>
            <a:r>
              <a:rPr lang="en-US" altLang="zh-CN" dirty="0"/>
              <a:t>Identify biases, calibration gaps, interval accuracy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1914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4391-9E4D-8549-2E35-14E0B60D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Data &amp; Feature Expansion</a:t>
            </a:r>
            <a:endParaRPr lang="zh-CN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C4CF52-6017-7FD5-9AF1-755864546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38793"/>
              </p:ext>
            </p:extLst>
          </p:nvPr>
        </p:nvGraphicFramePr>
        <p:xfrm>
          <a:off x="838200" y="1787964"/>
          <a:ext cx="10515597" cy="4020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262020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690411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55724976"/>
                    </a:ext>
                  </a:extLst>
                </a:gridCol>
              </a:tblGrid>
              <a:tr h="478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889008"/>
                  </a:ext>
                </a:extLst>
              </a:tr>
              <a:tr h="118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Macroeconomic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CPI, interest rates, unemployment (FRED, OECD, World Bank)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Low-frequency → forward-filled to daily; used as exogenous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93225"/>
                  </a:ext>
                </a:extLst>
              </a:tr>
              <a:tr h="118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Market Sentiment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Trends, news sentiment, Twitter/X indices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Short-term behavioral signals; noisy but timely; merged as predictors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695169"/>
                  </a:ext>
                </a:extLst>
              </a:tr>
              <a:tr h="118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On-chain (Crypto)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Active addresses, exchange flows, hash rate (</a:t>
                      </a:r>
                      <a:r>
                        <a:rPr lang="en-US" dirty="0" err="1"/>
                        <a:t>Glassnode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CryptoQuant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unique BTC/ETH signals; integrated with price &amp; technical indicators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50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934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D1D0-516B-3F93-7635-6AE47616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zh-CN" dirty="0"/>
              <a:t>Closing Note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635E-25D3-58B8-1ECA-0ED38A49A3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altLang="zh-CN" dirty="0"/>
              <a:t>Current forecasts = baseline</a:t>
            </a:r>
          </a:p>
          <a:p>
            <a:r>
              <a:rPr lang="en-IN" altLang="zh-CN" dirty="0"/>
              <a:t>Validation reveals strengths &amp; weaknesses</a:t>
            </a:r>
          </a:p>
          <a:p>
            <a:r>
              <a:rPr lang="en-IN" altLang="zh-CN" dirty="0"/>
              <a:t>External features improve robustness</a:t>
            </a:r>
          </a:p>
          <a:p>
            <a:r>
              <a:rPr lang="en-US" altLang="zh-CN" dirty="0"/>
              <a:t>Continuous cycle keeps framework adaptive</a:t>
            </a:r>
            <a:endParaRPr lang="zh-CN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5E36F4-E5C2-4AE5-A7B5-CF9CA0EA880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1117275"/>
              </p:ext>
            </p:extLst>
          </p:nvPr>
        </p:nvGraphicFramePr>
        <p:xfrm>
          <a:off x="6172200" y="155325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8209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6BDB-26C8-0D1C-110E-B68A1F70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/>
              <a:t>THANKS</a:t>
            </a:r>
            <a:endParaRPr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84720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1016</TotalTime>
  <Words>2923</Words>
  <Application>Microsoft Office PowerPoint</Application>
  <PresentationFormat>Widescreen</PresentationFormat>
  <Paragraphs>707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等线</vt:lpstr>
      <vt:lpstr>等线 Light</vt:lpstr>
      <vt:lpstr>Arial</vt:lpstr>
      <vt:lpstr>Office Theme</vt:lpstr>
      <vt:lpstr>Task 1000 – Predictive Analytics: Multi-Horizon Forecasting</vt:lpstr>
      <vt:lpstr>Contents</vt:lpstr>
      <vt:lpstr>Contents</vt:lpstr>
      <vt:lpstr>Overview</vt:lpstr>
      <vt:lpstr>Contents</vt:lpstr>
      <vt:lpstr>Data Collection: Assets &amp; Macros</vt:lpstr>
      <vt:lpstr>Data Collection: Prices (2015–2025)</vt:lpstr>
      <vt:lpstr>Data Preparation</vt:lpstr>
      <vt:lpstr>Contents</vt:lpstr>
      <vt:lpstr>Feature Engineering – Overview</vt:lpstr>
      <vt:lpstr>Feature Engineering – Indicators &amp; Factors</vt:lpstr>
      <vt:lpstr>Technical Indicators — Tesla Example</vt:lpstr>
      <vt:lpstr>Feature Space Visualization &amp; Summary</vt:lpstr>
      <vt:lpstr>Contents</vt:lpstr>
      <vt:lpstr>Modeling Approach – Models</vt:lpstr>
      <vt:lpstr>SARIMAX with Exogenous Features</vt:lpstr>
      <vt:lpstr>GBM with GARCH-informed Volatility</vt:lpstr>
      <vt:lpstr>ML Models &amp; Feature Selection</vt:lpstr>
      <vt:lpstr>ML Models - LSTM</vt:lpstr>
      <vt:lpstr>Ensembling (30D Forecast Examples)</vt:lpstr>
      <vt:lpstr>Ensemble Forecasting — Robust Median (TSLA 30D Example)</vt:lpstr>
      <vt:lpstr>Multi-Horizon Forecasts (30D → 10Y)</vt:lpstr>
      <vt:lpstr>Multi-Horizon Forecasts (30D → 10Y)</vt:lpstr>
      <vt:lpstr>Contents</vt:lpstr>
      <vt:lpstr>Evaluation Framework</vt:lpstr>
      <vt:lpstr>Backtest Examples (Equities)</vt:lpstr>
      <vt:lpstr>Backtest Examples (Crypto)</vt:lpstr>
      <vt:lpstr>Comparative Errors</vt:lpstr>
      <vt:lpstr>Forecast Interval Width Across Horizons</vt:lpstr>
      <vt:lpstr>Interval Calibration</vt:lpstr>
      <vt:lpstr>Best Model by Asset × Horizon</vt:lpstr>
      <vt:lpstr>Key Takeaways &amp; Playbook</vt:lpstr>
      <vt:lpstr>Contents</vt:lpstr>
      <vt:lpstr>Forecast Results</vt:lpstr>
      <vt:lpstr>Short-Term Forecasts (30D–6M)</vt:lpstr>
      <vt:lpstr>Long-Term Forecasts (1Y–10Y)</vt:lpstr>
      <vt:lpstr>Cross-Asset Comparison</vt:lpstr>
      <vt:lpstr>Stress Testing — SARIMAX &amp; GBM</vt:lpstr>
      <vt:lpstr>Insights &amp; Takeaways</vt:lpstr>
      <vt:lpstr>Contents</vt:lpstr>
      <vt:lpstr>Interpretation</vt:lpstr>
      <vt:lpstr>Risk &amp; Takeaways</vt:lpstr>
      <vt:lpstr>Contents</vt:lpstr>
      <vt:lpstr>Future Evaluation</vt:lpstr>
      <vt:lpstr>Data &amp; Feature Expansion</vt:lpstr>
      <vt:lpstr>Closing Note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YUDE</dc:creator>
  <cp:lastModifiedBy>LI, YUDE</cp:lastModifiedBy>
  <cp:revision>7</cp:revision>
  <dcterms:created xsi:type="dcterms:W3CDTF">2025-09-05T14:54:37Z</dcterms:created>
  <dcterms:modified xsi:type="dcterms:W3CDTF">2025-09-14T05:48:03Z</dcterms:modified>
</cp:coreProperties>
</file>